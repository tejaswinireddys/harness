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Harness Continuous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End-to-End Architecture for VM &amp; ECS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Comprehensive Architecture Guide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Introduction to Harness CD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Architecture Overview &amp; Components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Deployment Strategies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VM Deployment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    • Detailed architecture and components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    • End-to-end deployment 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    • Pipeline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ECS Deployment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    • Container orchestration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    • Blue-Green &amp; Canary strategies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    • AWS integration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Network &amp; Security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Monitoring &amp; Continuous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74151"/>
                </a:solidFill>
              </a:defRPr>
            </a:pPr>
            <a:r>
              <a:t>Best Practices &amp; Implementation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What is Harness CD?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144000" cy="5486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Modern Continuous Delivery platform that automates software deployments across any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DF0"/>
                </a:solidFill>
              </a:defRPr>
            </a:pPr>
            <a:r>
              <a:t>Key Capabilities: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65176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✓ Multi-Cloud &amp; Hybrid Deployments (AWS, Azure, GCP, On-Premise)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✓ Multiple Deployment Targets (VMs, Containers, Kubernetes, Serverless)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✓ Intelligent Deployment Strategies (Rolling, Blue-Green, Canary)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✓ AI-Powered Continuous Verification with Auto-Rollback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✓ Enterprise-Grade Security (RBAC, Secrets Management, Audit Trails)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74151"/>
                </a:solidFill>
              </a:defRPr>
            </a:pPr>
            <a:r>
              <a:t>✓ GitOps &amp; Infrastructure as Code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Business Impact: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212080"/>
            <a:ext cx="1828800" cy="10972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70%</a:t>
            </a:r>
            <a:br/>
            <a:r>
              <a:t>Faster</a:t>
            </a:r>
            <a:br/>
            <a:r>
              <a:t>Deployments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5212080"/>
            <a:ext cx="1828800" cy="10972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60%</a:t>
            </a:r>
            <a:br/>
            <a:r>
              <a:t>Fewer</a:t>
            </a:r>
            <a:br/>
            <a:r>
              <a:t>Incidents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212080"/>
            <a:ext cx="1828800" cy="10972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Zero</a:t>
            </a:r>
            <a:br/>
            <a:r>
              <a:t>Downtime</a:t>
            </a:r>
            <a:br/>
            <a:r>
              <a:t>Releases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5212080"/>
            <a:ext cx="1828800" cy="10972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100%</a:t>
            </a:r>
            <a:br/>
            <a:r>
              <a:t>Audit</a:t>
            </a:r>
            <a:br/>
            <a:r>
              <a:t>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Harness CD: 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6400800" cy="7315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Harness CD Control Plane (SaaS)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286000"/>
            <a:ext cx="164592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Pipeline</a:t>
            </a:r>
            <a:br/>
            <a:r>
              <a:t>Orchestrator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286000"/>
            <a:ext cx="164592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Service</a:t>
            </a:r>
            <a:br/>
            <a:r>
              <a:t>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286000"/>
            <a:ext cx="164592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Environment</a:t>
            </a:r>
            <a:br/>
            <a:r>
              <a:t>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286000"/>
            <a:ext cx="164592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Secrets</a:t>
            </a:r>
            <a:br/>
            <a:r>
              <a:t>Vault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2926080"/>
            <a:ext cx="0" cy="457200"/>
          </a:xfrm>
          <a:prstGeom prst="line">
            <a:avLst/>
          </a:prstGeom>
          <a:ln w="31750">
            <a:solidFill>
              <a:srgbClr val="007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WebSocket/HTTPS (TLS 1.3)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657600"/>
            <a:ext cx="5486400" cy="73152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Harness Delegates (Customer Network/VPC)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572000"/>
            <a:ext cx="1828800" cy="5486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Delegate 1</a:t>
            </a:r>
            <a:br/>
            <a:r>
              <a:t>(Active)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572000"/>
            <a:ext cx="1828800" cy="5486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Delegate 2</a:t>
            </a:r>
            <a:br/>
            <a:r>
              <a:t>(Active)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572000"/>
            <a:ext cx="1828800" cy="5486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Delegate 3</a:t>
            </a:r>
            <a:br/>
            <a:r>
              <a:t>(Standby)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200400" y="5120640"/>
            <a:ext cx="914400" cy="64008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5120640"/>
            <a:ext cx="0" cy="64008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0" y="5120640"/>
            <a:ext cx="914400" cy="64008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86000" y="5943600"/>
            <a:ext cx="210312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VM</a:t>
            </a:r>
            <a:br/>
            <a:r>
              <a:t>Servers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5943600"/>
            <a:ext cx="2103120" cy="6400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AWS ECS</a:t>
            </a:r>
            <a:br/>
            <a:r>
              <a:t>Clusters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5943600"/>
            <a:ext cx="2103120" cy="6400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Kubernetes</a:t>
            </a:r>
            <a:br/>
            <a:r>
              <a:t>Clusters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Deployment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3200400" cy="6400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🔄 Rolling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Updates instances one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DF0"/>
                </a:solidFill>
              </a:defRPr>
            </a:pPr>
            <a:r>
              <a:t>Key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63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Minimal downtime</a:t>
            </a:r>
            <a:br/>
            <a:r>
              <a:t>• Simple to implement</a:t>
            </a:r>
            <a:br/>
            <a:r>
              <a:t>• Resource efficient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14800"/>
            <a:ext cx="3200400" cy="73152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7DF0"/>
                </a:solidFill>
              </a:defRPr>
            </a:pPr>
            <a:r>
              <a:t>Best For:</a:t>
            </a:r>
            <a:br/>
            <a:r>
              <a:t>Standard deployments, low-risk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200400" cy="6400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🔵🟢 Blue-Green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Two identical environments for instant 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</a:defRPr>
            </a:pPr>
            <a:r>
              <a:t>Key Features: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63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Zero downtime</a:t>
            </a:r>
            <a:br/>
            <a:r>
              <a:t>• Instant rollback</a:t>
            </a:r>
            <a:br/>
            <a:r>
              <a:t>• Full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114800"/>
            <a:ext cx="3200400" cy="73152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2C55E"/>
                </a:solidFill>
              </a:defRPr>
            </a:pPr>
            <a:r>
              <a:t>Best For:</a:t>
            </a:r>
            <a:br/>
            <a:r>
              <a:t>Critical apps, zero-downtime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00400" cy="64008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🐤 Canary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Gradual rollout with traffic percentage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</a:defRPr>
            </a:pPr>
            <a:r>
              <a:t>Key Features: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63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Risk mitigation</a:t>
            </a:r>
            <a:br/>
            <a:r>
              <a:t>• Incremental validation</a:t>
            </a:r>
            <a:br/>
            <a:r>
              <a:t>• Auto-rollback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114800"/>
            <a:ext cx="3200400" cy="73152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B923C"/>
                </a:solidFill>
              </a:defRPr>
            </a:pPr>
            <a:r>
              <a:t>Best For:</a:t>
            </a:r>
            <a:br/>
            <a:r>
              <a:t>High-risk changes, new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33A0"/>
                </a:solidFill>
              </a:defRPr>
            </a:pPr>
            <a:r>
              <a:t>💡 Selection Guide: Choose based on risk tolerance, downtime requirements, and infrastructure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VM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6400800" cy="6400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Harness CD Control Plane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194560"/>
            <a:ext cx="13716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194560"/>
            <a:ext cx="13716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9" y="2194560"/>
            <a:ext cx="13716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19" y="2194560"/>
            <a:ext cx="13716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2651760"/>
            <a:ext cx="0" cy="457200"/>
          </a:xfrm>
          <a:prstGeom prst="line">
            <a:avLst/>
          </a:prstGeom>
          <a:ln w="31750">
            <a:solidFill>
              <a:srgbClr val="007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3291839"/>
            <a:ext cx="4572000" cy="5486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Harness Delegate</a:t>
            </a:r>
            <a:br/>
            <a:r>
              <a:t>(Customer Data Center/Private Cloud)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SSH Connection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3840479"/>
            <a:ext cx="0" cy="45720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28800" y="4572000"/>
            <a:ext cx="146304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Dev</a:t>
            </a:r>
            <a:br/>
            <a:r>
              <a:t>2 VMs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572000"/>
            <a:ext cx="146304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QA</a:t>
            </a:r>
            <a:br/>
            <a:r>
              <a:t>3 VMs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572000"/>
            <a:ext cx="146304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Staging</a:t>
            </a:r>
            <a:br/>
            <a:r>
              <a:t>5 VMs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572000"/>
            <a:ext cx="1463040" cy="6400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Production</a:t>
            </a:r>
            <a:br/>
            <a:r>
              <a:t>10+ VMs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DF0"/>
                </a:solidFill>
              </a:defRPr>
            </a:pPr>
            <a:r>
              <a:t>Key Components: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85216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🔌 SSH Connector: Secure connection using SSH keys or credentials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1722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📦 Artifact Sources: Docker Registry, Artifactory, Nexus,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4922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⚙️ Deployment Scripts: Pre-deploy, deploy, post-deploy, rollback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81227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✅ Health Checks: Process status, HTTP endpoints, smoke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713231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📊 Monitoring: Prometheus, Datadog, CloudWatch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VM Deployment: Detailed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DF0"/>
                </a:solidFill>
              </a:defRPr>
            </a:pPr>
            <a:r>
              <a:t>Architecture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02920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Pipeline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420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Service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9806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Environment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Secrets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RBAC &amp;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3320"/>
            <a:ext cx="502920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Execution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Harness Delegates (HA)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1655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SSH Connection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7258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Artifact Download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2861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Script 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846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Health Check 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502920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Target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VM Servers (Linux/Windows)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Application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4710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Configuration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80313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Backup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705916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Load Balancers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Deployment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828800"/>
            <a:ext cx="2286000" cy="4114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20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Git webhook, manual, scheduled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86600" y="2240280"/>
            <a:ext cx="0" cy="182880"/>
          </a:xfrm>
          <a:prstGeom prst="line">
            <a:avLst/>
          </a:prstGeom>
          <a:ln w="31750">
            <a:solidFill>
              <a:srgbClr val="007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0" y="2514600"/>
            <a:ext cx="2286000" cy="4114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Artifact Fetch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Download from registry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86600" y="2926080"/>
            <a:ext cx="0" cy="182880"/>
          </a:xfrm>
          <a:prstGeom prst="line">
            <a:avLst/>
          </a:prstGeom>
          <a:ln w="31750">
            <a:solidFill>
              <a:srgbClr val="003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43600" y="3200400"/>
            <a:ext cx="2286000" cy="41148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Pre-Deploy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Backup, stop services, validate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86600" y="3611880"/>
            <a:ext cx="0" cy="18288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43600" y="3886200"/>
            <a:ext cx="2286000" cy="4114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Transfer, extract, configure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86600" y="4297680"/>
            <a:ext cx="0" cy="18288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943600" y="4572000"/>
            <a:ext cx="2286000" cy="4114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Post-Deploy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Start services, health checks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86600" y="4983480"/>
            <a:ext cx="0" cy="18288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943600" y="5257800"/>
            <a:ext cx="2286000" cy="4114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349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Continuous verification, metrics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86600" y="5669280"/>
            <a:ext cx="0" cy="182880"/>
          </a:xfrm>
          <a:prstGeom prst="line">
            <a:avLst/>
          </a:prstGeom>
          <a:ln w="31750">
            <a:solidFill>
              <a:srgbClr val="007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943600" y="5943600"/>
            <a:ext cx="2286000" cy="4114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7. 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6035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Success or rollback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VM Deployment Flow: Trigger &amp; Pre-Deployment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1: Trigger &amp;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1. Developer commits code to Git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2. Webhook triggers Harness CD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3. Pipeline fetches service configuration and artifact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4. Selects target environment (Dev/QA/Staging/Production)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5. Assigns task to available Harness Delegate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1005840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2: Pre-Deployment Activities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749039"/>
            <a:ext cx="292608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🔍 Environment</a:t>
            </a:r>
            <a:br/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519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Check disk space</a:t>
            </a:r>
            <a:br/>
            <a:r>
              <a:t>• Verify memory</a:t>
            </a:r>
            <a:br/>
            <a:r>
              <a:t>• Check dependencies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0" y="3977639"/>
            <a:ext cx="274320" cy="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3749039"/>
            <a:ext cx="292608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💾 Backup</a:t>
            </a:r>
            <a:br/>
            <a:r>
              <a:t>Current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519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Create backup dir</a:t>
            </a:r>
            <a:br/>
            <a:r>
              <a:t>• Copy files</a:t>
            </a:r>
            <a:br/>
            <a:r>
              <a:t>• Archive backup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3977639"/>
            <a:ext cx="274321" cy="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0" y="3749039"/>
            <a:ext cx="292608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🛑 Stop</a:t>
            </a:r>
            <a:br/>
            <a: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25195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Stop application</a:t>
            </a:r>
            <a:br/>
            <a:r>
              <a:t>• Drain connections</a:t>
            </a:r>
            <a:br/>
            <a:r>
              <a:t>• Verify stopped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⚠️ Critical Safety Measures: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Always create backup before stopping services - enables quick rollback if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Validate environment has sufficient resources - prevents deployment failures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Graceful service shutdown with connection draining - no dropped requests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Remove from load balancer pool before stopping - maintains availability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VM Deployment Flow: Deployment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3: Deployment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24688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📦 1. Transfer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• SCP/SFTP transfer to target VM</a:t>
            </a:r>
            <a:br/>
            <a:r>
              <a:t>• Progress monitoring</a:t>
            </a:r>
            <a:br/>
            <a:r>
              <a:t>• Checksum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246888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74151"/>
                </a:solidFill>
              </a:defRPr>
            </a:pPr>
            <a:r>
              <a:t>scp artifact.tar.gz user@vm:/tmp/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2194560"/>
            <a:ext cx="22860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94760" y="2011680"/>
            <a:ext cx="24688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📂 2. Extract &amp; Install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423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• Extract archive</a:t>
            </a:r>
            <a:br/>
            <a:r>
              <a:t>• Set permissions</a:t>
            </a:r>
            <a:br/>
            <a:r>
              <a:t>• Create directory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3200400"/>
            <a:ext cx="246888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74151"/>
                </a:solidFill>
              </a:defRPr>
            </a:pPr>
            <a:r>
              <a:t>tar -xzf artifact.tar.gz -C /opt/myapp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3640" y="2194560"/>
            <a:ext cx="22860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2011680"/>
            <a:ext cx="24688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⚙️ 3. Update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23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• Copy environment configs</a:t>
            </a:r>
            <a:br/>
            <a:r>
              <a:t>• Replace variables</a:t>
            </a:r>
            <a:br/>
            <a:r>
              <a:t>• Inject secrets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200400"/>
            <a:ext cx="246888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74151"/>
                </a:solidFill>
              </a:defRPr>
            </a:pPr>
            <a:r>
              <a:t>cp config/prod/* /opt/myapp/conf/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0" y="2194560"/>
            <a:ext cx="22860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20" y="2011680"/>
            <a:ext cx="24688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▶️ 4. Start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423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• systemctl start myapp</a:t>
            </a:r>
            <a:br/>
            <a:r>
              <a:t>• Verify process running</a:t>
            </a:r>
            <a:br/>
            <a:r>
              <a:t>• Check logs for errors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200400"/>
            <a:ext cx="246888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74151"/>
                </a:solidFill>
              </a:defRPr>
            </a:pPr>
            <a:r>
              <a:t>systemctl start myapp.service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657600"/>
            <a:ext cx="8229600" cy="7315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🔄 Rolling Deployment Strategy</a:t>
            </a:r>
            <a:br/>
            <a:r>
              <a:t>Deploy to one VM at a time → Verify → Move to next VM</a:t>
            </a:r>
            <a:br/>
            <a:r>
              <a:t>Ensures continuous availability during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33A0"/>
                </a:solidFill>
              </a:defRPr>
            </a:pPr>
            <a:r>
              <a:t>⏱️ Typical Timeline: 5-7 minutes per VM | 10 VMs ≈ 60-70 minutes for complete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VM Deployment Flow: Post-Deployment &amp;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4: Post-Deployment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29260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🏥 Health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423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✓ Process status check</a:t>
            </a:r>
            <a:br/>
            <a:r>
              <a:t>✓ Port listening (8080)</a:t>
            </a:r>
            <a:br/>
            <a:r>
              <a:t>✓ HTTP /health endpoint</a:t>
            </a:r>
            <a:br/>
            <a:r>
              <a:t>✓ Database connectivity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292608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🧪 Smoke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423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✓ API endpoint tests</a:t>
            </a:r>
            <a:br/>
            <a:r>
              <a:t>✓ Authentication flow</a:t>
            </a:r>
            <a:br/>
            <a:r>
              <a:t>✓ Core functionality</a:t>
            </a:r>
            <a:br/>
            <a:r>
              <a:t>✓ External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011680"/>
            <a:ext cx="292608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⚖️ Load Balancer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423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✓ Register with LB pool</a:t>
            </a:r>
            <a:br/>
            <a:r>
              <a:t>✓ Wait for LB health checks</a:t>
            </a:r>
            <a:br/>
            <a:r>
              <a:t>✓ Verify traffic routing</a:t>
            </a:r>
            <a:br/>
            <a:r>
              <a:t>✓ Monitor connection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74720"/>
            <a:ext cx="100584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5: Continuous Verification (30 minutes)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A0"/>
                </a:solidFill>
              </a:defRPr>
            </a:pPr>
            <a:r>
              <a:t>📊 Metrics Monitored: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343400"/>
            <a:ext cx="1920240" cy="4114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Error Rate</a:t>
            </a:r>
            <a:br/>
            <a:r>
              <a:t>&lt; 1% (baseline comparison)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343400"/>
            <a:ext cx="1920240" cy="4114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Response Time (P95)</a:t>
            </a:r>
            <a:br/>
            <a:r>
              <a:t>&lt; baseline + 10%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4343400"/>
            <a:ext cx="1920240" cy="4114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CPU Usage</a:t>
            </a:r>
            <a:br/>
            <a:r>
              <a:t>&lt; 80% sustained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43400"/>
            <a:ext cx="1920240" cy="4114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Memory Usage</a:t>
            </a:r>
            <a:br/>
            <a:r>
              <a:t>&lt; 85% sustained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4343400"/>
            <a:ext cx="1920240" cy="4114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Request Throughput</a:t>
            </a:r>
            <a:br/>
            <a:r>
              <a:t>≥ baseline - 5%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892040"/>
            <a:ext cx="7315200" cy="6400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🤖 AI-Powered Auto-Rollback</a:t>
            </a:r>
            <a:br/>
            <a:r>
              <a:t>Automatically reverts to previous version if anomalies detected</a:t>
            </a:r>
            <a:br/>
            <a:r>
              <a:t>Uses machine learning to compare against baseline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VM Deployment: Pipeline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DF0"/>
                </a:solidFill>
              </a:defRPr>
            </a:pPr>
            <a:r>
              <a:t>Pipeline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5029200" cy="4114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📋 Service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Name: myapp-vm-service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Type: SSH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Artifacts: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Docker: registry.example.com/myapp:v1.2.3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TAR: artifactory.example.com/myapp.tar.gz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Config Files: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Source: Git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Paths: config/prod/*.properties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Variables: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ENVIRONMENT: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LOG_LEVEL: INFO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APP_PORT: 8080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029200" cy="41148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🏗️ Infrastructure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945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Type: SSH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Connection: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Host: prod-vm-*.example.com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Port: 22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Auth: SSH Key (from secrets)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Host Selection: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Manual: Specific host 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Dynamic: Tag-based discovery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Load-balanced: Automatic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Deployment: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Strategy: Rolling update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Batch size: 1 VM at a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Failure threshold: Stop on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79"/>
            <a:ext cx="10058400" cy="4114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⚙️ Execution Steps (Pipeline Stages)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754879"/>
            <a:ext cx="219456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Pre-Deploy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Backup</a:t>
            </a:r>
            <a:br/>
            <a:r>
              <a:t>• Validate</a:t>
            </a:r>
            <a:br/>
            <a:r>
              <a:t>• Stop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4910327"/>
            <a:ext cx="182879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49039" y="4754879"/>
            <a:ext cx="219456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51206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Transfer</a:t>
            </a:r>
            <a:br/>
            <a:r>
              <a:t>• Extract</a:t>
            </a:r>
            <a:br/>
            <a:r>
              <a:t>• Configure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4910327"/>
            <a:ext cx="182879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79" y="4754879"/>
            <a:ext cx="219456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Post-Deploy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51206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Start</a:t>
            </a:r>
            <a:br/>
            <a:r>
              <a:t>• Health</a:t>
            </a:r>
            <a:br/>
            <a:r>
              <a:t>• Tests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4910327"/>
            <a:ext cx="182879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03919" y="4754879"/>
            <a:ext cx="219456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51206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Metrics</a:t>
            </a:r>
            <a:br/>
            <a:r>
              <a:t>• Logs</a:t>
            </a:r>
            <a:br/>
            <a:r>
              <a:t>•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852159"/>
            <a:ext cx="8229600" cy="5029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🔄 Rollback Configuration: Automatic on failure | Manual trigger available | Restores from backup in &lt; 5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VM Deployment: Rollback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🚨 Rollback Triggers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737360"/>
            <a:ext cx="246888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⚠️ Health Check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Condition:</a:t>
            </a:r>
            <a:br/>
            <a:r>
              <a:t>3 consecutive failures</a:t>
            </a:r>
            <a:br/>
            <a:br/>
            <a:r>
              <a:t>Action:</a:t>
            </a:r>
            <a:br/>
            <a:r>
              <a:t>Immediate rollback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737360"/>
            <a:ext cx="246888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⚠️ Error Rate Spike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Condition:</a:t>
            </a:r>
            <a:br/>
            <a:r>
              <a:t>&gt; 5% for 5 minutes</a:t>
            </a:r>
            <a:br/>
            <a:br/>
            <a:r>
              <a:t>Action:</a:t>
            </a:r>
            <a:br/>
            <a:r>
              <a:t>Auto-rollback initiated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246888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⚠️ Performance Degradation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Condition:</a:t>
            </a:r>
            <a:br/>
            <a:r>
              <a:t>Response time &gt; 2x baseline</a:t>
            </a:r>
            <a:br/>
            <a:br/>
            <a:r>
              <a:t>Action:</a:t>
            </a:r>
            <a:br/>
            <a:r>
              <a:t>Alert &amp; optional rollback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737360"/>
            <a:ext cx="246888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⚠️ Manual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Condition:</a:t>
            </a:r>
            <a:br/>
            <a:r>
              <a:t>Operator decision</a:t>
            </a:r>
            <a:br/>
            <a:br/>
            <a:r>
              <a:t>Action:</a:t>
            </a:r>
            <a:br/>
            <a:r>
              <a:t>Immediate rollback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A0"/>
                </a:solidFill>
              </a:defRPr>
            </a:pPr>
            <a:r>
              <a:t>⏮️ Rollback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08960"/>
            <a:ext cx="192024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Detect 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Monitoring alerts</a:t>
            </a:r>
            <a:br/>
            <a:r>
              <a:t>Auto or manual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3291840"/>
            <a:ext cx="182880" cy="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0" y="3108960"/>
            <a:ext cx="1920240" cy="36576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Stop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Graceful shutdown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0640" y="3291840"/>
            <a:ext cx="182880" cy="0"/>
          </a:xfrm>
          <a:prstGeom prst="line">
            <a:avLst/>
          </a:prstGeom>
          <a:ln w="317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03520" y="3108960"/>
            <a:ext cx="192024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Restore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Latest good version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23760" y="3291840"/>
            <a:ext cx="18288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06640" y="3108960"/>
            <a:ext cx="192024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Start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Verify health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26880" y="3291840"/>
            <a:ext cx="182879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09759" y="3108960"/>
            <a:ext cx="192024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3520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Confirm stability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23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Rollback Best Practices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434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Test rollback procedures monthly in non-production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Keep minimum 5 backup versions available at all times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Document rollback steps in runbooks for team reference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Set rollback time objective (RTO) &lt; 5 minutes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Automate rollback process to reduce manual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Maintain separate backup storage location (not on deployment server)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Monitor post-rollback metrics for 30 minutes minimum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6172200"/>
            <a:ext cx="6400800" cy="5029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📊 Target Metrics: Mean Time To Detect (MTTD) &lt; 2 min | Mean Time To Rollback (MTTR) &lt; 5 min | Success Rate &gt; 99%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ECS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6400800" cy="6400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Harness CD Control Plane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194560"/>
            <a:ext cx="13716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194560"/>
            <a:ext cx="13716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9" y="2194560"/>
            <a:ext cx="13716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19" y="2194560"/>
            <a:ext cx="13716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2651760"/>
            <a:ext cx="0" cy="457200"/>
          </a:xfrm>
          <a:prstGeom prst="line">
            <a:avLst/>
          </a:prstGeom>
          <a:ln w="31750">
            <a:solidFill>
              <a:srgbClr val="007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3291839"/>
            <a:ext cx="4572000" cy="5486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Harness Delegate</a:t>
            </a:r>
            <a:br/>
            <a:r>
              <a:t>(AWS VPC - Private Subnet)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</a:defRPr>
            </a:pPr>
            <a:r>
              <a:t>AWS API Calls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3840479"/>
            <a:ext cx="0" cy="45720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4572000"/>
            <a:ext cx="3017520" cy="6400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ECS Cluster</a:t>
            </a:r>
            <a:br/>
            <a:r>
              <a:t>(Fargate/EC2)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572000"/>
            <a:ext cx="3017520" cy="6400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ECS Service</a:t>
            </a:r>
            <a:br/>
            <a:r>
              <a:t>(10 tasks)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572000"/>
            <a:ext cx="3017520" cy="6400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Definition</a:t>
            </a:r>
            <a:br/>
            <a:r>
              <a:t>(Container specs)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486400"/>
            <a:ext cx="2286000" cy="5486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ALB</a:t>
            </a:r>
            <a:br/>
            <a:r>
              <a:t>(Load Balancer)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5486400"/>
            <a:ext cx="2286000" cy="5486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ECR</a:t>
            </a:r>
            <a:br/>
            <a:r>
              <a:t>(Container Registry)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486400"/>
            <a:ext cx="2286000" cy="5486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CloudWatch</a:t>
            </a:r>
            <a:br/>
            <a:r>
              <a:t>(Monitoring)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DF0"/>
                </a:solidFill>
              </a:defRPr>
            </a:pPr>
            <a:r>
              <a:t>🔑 Key Differences from VM Deployment: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537959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Container-based: Immutable infrastructure, consistent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AWS-managed: No server management, automatic scaling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Faster deployments: Parallel task updates, rapid scaling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Advanced strategies: Native Blue-Green and Canary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Integration: Deep AWS ecosystem integration (ALB, ECR, CloudWatch)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ECS Deployment: Detailed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DF0"/>
                </a:solidFill>
              </a:defRPr>
            </a:pPr>
            <a:r>
              <a:t>ECS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02920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ECS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Logical grouping of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4144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Fargate or EC2 launch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4261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Multi-AZ for high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Auto-scaling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36392"/>
            <a:ext cx="502920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ECS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4787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Maintains desired task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Handles load balancer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5020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Manages deployments &amp; rollbacks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51376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Health check configuration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43984"/>
            <a:ext cx="502920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55464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Container specifications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56632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CPU &amp; Memory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Environment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589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Volume mounts &amp; secrets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51575"/>
            <a:ext cx="502920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63055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Running container instances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64223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Networked via VPC (awsvpc)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65391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Registered with target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766559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Monitored via CloudWatch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ECS Deployment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1828800"/>
            <a:ext cx="256032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Image Push to ECR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9019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CI pipeline builds &amp; pushes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23760" y="2194560"/>
            <a:ext cx="0" cy="137160"/>
          </a:xfrm>
          <a:prstGeom prst="line">
            <a:avLst/>
          </a:prstGeom>
          <a:ln w="31750">
            <a:solidFill>
              <a:srgbClr val="007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43600" y="2395728"/>
            <a:ext cx="256032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Pipeline 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Webhook or manual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23760" y="2761488"/>
            <a:ext cx="0" cy="137160"/>
          </a:xfrm>
          <a:prstGeom prst="line">
            <a:avLst/>
          </a:prstGeom>
          <a:ln w="31750">
            <a:solidFill>
              <a:srgbClr val="007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43600" y="2962656"/>
            <a:ext cx="256032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Create Task Definition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0358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New revision with new image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23760" y="3328416"/>
            <a:ext cx="0" cy="13716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43600" y="3529584"/>
            <a:ext cx="256032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Update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6027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Rolling/Blue-Green/Canary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23760" y="3895344"/>
            <a:ext cx="0" cy="13716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43600" y="4096512"/>
            <a:ext cx="256032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Start New Tasks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1696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Pull image, start containers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23760" y="4462272"/>
            <a:ext cx="0" cy="13716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943600" y="4663440"/>
            <a:ext cx="256032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Register with ALB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736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Health checks begin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23760" y="5029200"/>
            <a:ext cx="0" cy="13716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943600" y="5230368"/>
            <a:ext cx="256032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7. Stop Old Tasks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303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Graceful shutdown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223760" y="5596128"/>
            <a:ext cx="0" cy="13716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43600" y="5797296"/>
            <a:ext cx="256032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8. Verify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8704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Metrics &amp; health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ECS Deployment Flow: Trigger &amp; Pre-Deployment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1: CI Pipeline &amp; Container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920240"/>
            <a:ext cx="201168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Docker build</a:t>
            </a:r>
            <a:br/>
            <a:r>
              <a:t>-t myapp:v1.2.3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2148840"/>
            <a:ext cx="182880" cy="0"/>
          </a:xfrm>
          <a:prstGeom prst="line">
            <a:avLst/>
          </a:prstGeom>
          <a:ln w="31750">
            <a:solidFill>
              <a:srgbClr val="007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40480" y="1920240"/>
            <a:ext cx="201168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Run unit tests</a:t>
            </a:r>
            <a:br/>
            <a:r>
              <a:t>Security scan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0" y="2148840"/>
            <a:ext cx="18288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35040" y="1920240"/>
            <a:ext cx="201168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docker push ECR</a:t>
            </a:r>
            <a:br/>
            <a:r>
              <a:t>myapp:v1.2.3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148840"/>
            <a:ext cx="182880" cy="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1920240"/>
            <a:ext cx="2011680" cy="4572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SNS/Webhook</a:t>
            </a:r>
            <a:br/>
            <a:r>
              <a:t>→ Harness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17520"/>
            <a:ext cx="1005840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2: Pre-Deployment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66160"/>
            <a:ext cx="320040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🔐 AWS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776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Assume IAM role</a:t>
            </a:r>
            <a:br/>
            <a:r>
              <a:t>• Verify ECS permissions</a:t>
            </a:r>
            <a:br/>
            <a:r>
              <a:t>• Check ECR access</a:t>
            </a:r>
            <a:br/>
            <a:r>
              <a:t>• Validate ALB permissions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566160"/>
            <a:ext cx="320040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🖼️ Image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Confirm image exists in ECR</a:t>
            </a:r>
            <a:br/>
            <a:r>
              <a:t>• Verify image digest</a:t>
            </a:r>
            <a:br/>
            <a:r>
              <a:t>• Check vulnerability scan</a:t>
            </a:r>
            <a:br/>
            <a:r>
              <a:t>• Validate image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566160"/>
            <a:ext cx="320040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Capacity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9776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Check Fargate quotas</a:t>
            </a:r>
            <a:br/>
            <a:r>
              <a:t>• Verify subnet capacity</a:t>
            </a:r>
            <a:br/>
            <a:r>
              <a:t>• Validate security groups</a:t>
            </a:r>
            <a:br/>
            <a:r>
              <a:t>• Check target group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A0"/>
                </a:solidFill>
              </a:defRPr>
            </a:pPr>
            <a:r>
              <a:t>📋 Current State Analysis: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49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Retrieve current service configuration (desired count, task definition)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Get current task definition revision and container image version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Check running task count and health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Verify ALB target group registration and health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Capture baseline metrics for comparison (error rate, response time, CPU)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6629400"/>
            <a:ext cx="73152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💾 Current state saved as rollback point - enables instant revert if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ECS Deployment Flow: Task Definition &amp; Service Update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3: Task Definition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DF0"/>
                </a:solidFill>
              </a:defRPr>
            </a:pPr>
            <a:r>
              <a:t>Task Definition Structure: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Family: myapp-task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Revision: 15 (auto-incremented)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Container Definition: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Name: myapp-container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Image: ECR/myapp:v1.2.3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CPU: 256 (0.25 vCPU)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Memory: 512 MB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Port Mappings: 8080:8080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Environment Variables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- Secrets from AWS Secrets Manager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Network Mode: awsvpc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Launch Type: FARGATE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IAM Roles: Task &amp; Execution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Register New Revision: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402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1. Clone current task definition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2. Update container image: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 FROM: myapp:v1.2.2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 TO: myapp:v1.2.3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3. Update environment variables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4. Inject new secrets if needed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5. Validate task definition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6. Register with AWS ECS: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 aws ecs register-task-definition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7. Receive new ARN: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 arn:aws:ecs:...:task-def/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   myapp-task:15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8. Ready for deployment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100584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4: ECS Service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754879"/>
            <a:ext cx="274320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Deployment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828031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Rolling / Blue-Green / Canary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166359"/>
            <a:ext cx="27432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Maximum Percent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239512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200% (can run 20 tasks during deployment)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577840"/>
            <a:ext cx="27432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Minimum Healthy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5650992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100% (maintain 10 healthy tasks minimum)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989320"/>
            <a:ext cx="2743200" cy="3200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Circuit Breaker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062472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Enabled - Auto-rollback on failures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6583680"/>
            <a:ext cx="8229600" cy="5486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374151"/>
                </a:solidFill>
              </a:defRPr>
            </a:pPr>
            <a:r>
              <a:t>aws ecs update-service \</a:t>
            </a:r>
            <a:br/>
            <a:r>
              <a:t>  --cluster prod-ecs-cluster \</a:t>
            </a:r>
            <a:br/>
            <a:r>
              <a:t>  --service myapp-service \</a:t>
            </a:r>
            <a:br/>
            <a:r>
              <a:t>  --task-definition myapp-task:15 \</a:t>
            </a:r>
            <a:br/>
            <a:r>
              <a:t>  --force-new-deployment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ECS Blue-Green Deployment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🔵🟢 Blue-Green: Zero-Downtime Deployment with Instant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A0"/>
                </a:solidFill>
              </a:defRPr>
            </a:pPr>
            <a:r>
              <a:t>Stage 1: Initial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01168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Blue</a:t>
            </a:r>
            <a:br/>
            <a:r>
              <a:t>100% Traffic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2011680" cy="36576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74151"/>
                </a:solidFill>
              </a:defRPr>
            </a:pPr>
            <a:r>
              <a:t>Green</a:t>
            </a:r>
            <a:br/>
            <a:r>
              <a:t>0%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Blue serving all production traffic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651760"/>
            <a:ext cx="18288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2608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A0"/>
                </a:solidFill>
              </a:defRPr>
            </a:pPr>
            <a:r>
              <a:t>Stage 2: Deploy Green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194560"/>
            <a:ext cx="201168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Blue</a:t>
            </a:r>
            <a:br/>
            <a:r>
              <a:t>100% Traffic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606040"/>
            <a:ext cx="20116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Green</a:t>
            </a:r>
            <a:br/>
            <a:r>
              <a:t>0% (Testing)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Green deployed, not receiving traffic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37760" y="2651760"/>
            <a:ext cx="18288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064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A0"/>
                </a:solidFill>
              </a:defRPr>
            </a:pPr>
            <a:r>
              <a:t>Stage 3: Shift 10%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194560"/>
            <a:ext cx="201168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Blue</a:t>
            </a:r>
            <a:br/>
            <a:r>
              <a:t>90%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606040"/>
            <a:ext cx="20116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Green</a:t>
            </a:r>
            <a:br/>
            <a:r>
              <a:t>10%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Initial traffic validation (5 min)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2651760"/>
            <a:ext cx="18288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A0"/>
                </a:solidFill>
              </a:defRPr>
            </a:pPr>
            <a:r>
              <a:t>Stage 4: Shift 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194560"/>
            <a:ext cx="201168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Blue</a:t>
            </a:r>
            <a:br/>
            <a:r>
              <a:t>50% Traffic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606040"/>
            <a:ext cx="20116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Green</a:t>
            </a:r>
            <a:br/>
            <a:r>
              <a:t>50% Traffic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Half traffic validation (10 min)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80" y="2651760"/>
            <a:ext cx="182880" cy="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09760" y="1920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A0"/>
                </a:solidFill>
              </a:defRPr>
            </a:pPr>
            <a:r>
              <a:t>Stage 5: 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194560"/>
            <a:ext cx="2011680" cy="36576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Blue</a:t>
            </a:r>
            <a:br/>
            <a:r>
              <a:t>0% (Standby)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2606040"/>
            <a:ext cx="20116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Green</a:t>
            </a:r>
            <a:br/>
            <a:r>
              <a:t>100% Traffic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Green serving all traffic, blue ready for rollback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566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DF0"/>
                </a:solidFill>
              </a:defRPr>
            </a:pPr>
            <a:r>
              <a:t>⚖️ Application Load Balancer Configuration: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0" y="3886200"/>
            <a:ext cx="219456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Blue Target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Original tasks, gradually reduced traffic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3886200"/>
            <a:ext cx="219456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Green Target Group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New tasks, gradually increased traffic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79" y="3886200"/>
            <a:ext cx="219456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Listener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79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Weight-based routing: Blue:90 → Green:10 → ...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19" y="3886200"/>
            <a:ext cx="219456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Health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9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/health endpoint, 30s interval, 2/3 threshold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709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Key Benefits: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029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Zero downtime: Traffic switch is instantaneous at ALB level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Full validation: Complete testing before receiving production traffic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Instant rollback: Simply redirect traffic back to blue (&lt; 1 minute)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Safe deployment: Any issues detected only affect small percentage initially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943600"/>
            <a:ext cx="7315200" cy="4114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⏱️ Total Deployment Time: ~45-55 minutes (including 30-min verification)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ECS Canary Deployment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🐤 Canary: Gradual Rollout with Progressive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</a:defRPr>
            </a:pPr>
            <a:r>
              <a:t>Canary Deployment Phases: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058400" cy="3200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1: 10% Canary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Tasks: 1 new task, 9 old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51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Duration: 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51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Validation: Error rate &lt; 1%, Response time baseline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880360"/>
            <a:ext cx="0" cy="18288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108960"/>
            <a:ext cx="10058400" cy="3200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2: 25% Canary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74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Tasks: 2-3 new tasks, 7-8 old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Duration: 10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4747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Validation: Extended metrics, CPU/Memory checks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3703320"/>
            <a:ext cx="0" cy="182880"/>
          </a:xfrm>
          <a:prstGeom prst="line">
            <a:avLst/>
          </a:prstGeom>
          <a:ln w="31750">
            <a:solidFill>
              <a:srgbClr val="FB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931920"/>
            <a:ext cx="100584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3: 50% Canary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Tasks: 5 new tasks, 5 old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Duration: 15 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976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Validation: Full metrics suite, business KPIs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4526280"/>
            <a:ext cx="0" cy="182880"/>
          </a:xfrm>
          <a:prstGeom prst="line">
            <a:avLst/>
          </a:prstGeom>
          <a:ln w="317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4754880"/>
            <a:ext cx="100584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4: 100%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206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Tasks: All 10 new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206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Duration: Ongoing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1206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Validation: Continuous monitoring, auto-rollback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A0"/>
                </a:solidFill>
              </a:defRPr>
            </a:pPr>
            <a:r>
              <a:t>🤖 Automated Validation &amp; Rollback: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6080760"/>
            <a:ext cx="2286000" cy="2743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Error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61264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&lt; 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612648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</a:defRPr>
            </a:pPr>
            <a:r>
              <a:t>Auto-rollback if exceeded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6428232"/>
            <a:ext cx="2286000" cy="2743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Response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6473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&lt; Baseline + 10%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647395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</a:defRPr>
            </a:pPr>
            <a:r>
              <a:t>Alert if exceeded, rollback if &gt; 50%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6775704"/>
            <a:ext cx="2286000" cy="2743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HTTP 5xx Errors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68214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&lt; 10 per minute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82142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</a:defRPr>
            </a:pPr>
            <a:r>
              <a:t>Immediate rollback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7123176"/>
            <a:ext cx="2286000" cy="2743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Resource Usage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71688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CPU &lt; 80%, Memory &lt; 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716889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</a:defRPr>
            </a:pPr>
            <a:r>
              <a:t>Alert, continue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75620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Why Use Canary?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7882127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Risk mitigation: Limits blast radius to small percentage of traffic initially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Progressive validation: Extended validation time at each stage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Automatic safety: AI-powered rollback on any metric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Business-safe: Minimal impact if issues occur (only affects canary percentage)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ECS Deployment: Pipeline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4114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📋 Service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Service: myapp-ecs-service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Type: ECS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Artifact: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Type: ECR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Repository: myapp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Registry: 123...amazonaws.com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Tag: &lt;+pipeline.sequenceId&gt;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Task Definition: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Family: myapp-task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CPU: 256 (.25 vCPU)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Memory: 512 MB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Network Mode: awsvpc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Launch Type: FARGATE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029200" cy="41148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🏗️ Infrastructure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Type: ECS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AWS Connector: aws-prod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ECS Configuration: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Cluster: prod-ecs-cluster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Region: us-east-1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Launch Type: FARGATE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Network Configuration: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Subnets: private-1a, private-1b, private-1c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Security Groups: ecs-task-sg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Assign Public IP: DISABLED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Load Balancer: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ALB: myapp-alb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Target Group: myapp-tg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74151"/>
                </a:solidFill>
              </a:defRPr>
            </a:pPr>
            <a:r>
              <a:t>• Container Port: 8080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80560"/>
            <a:ext cx="10058400" cy="4114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⚙️ Deployment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37760"/>
            <a:ext cx="22860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Rolling Update</a:t>
            </a:r>
            <a:br/>
            <a:r>
              <a:t>• Blue-Green</a:t>
            </a:r>
            <a:br/>
            <a:r>
              <a:t>• Canary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937760"/>
            <a:ext cx="228600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Health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Grace Period: 60s</a:t>
            </a:r>
            <a:br/>
            <a:r>
              <a:t>• Interval: 30s</a:t>
            </a:r>
            <a:br/>
            <a:r>
              <a:t>• Path: /health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937760"/>
            <a:ext cx="2286000" cy="3200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Desired: 10 tasks</a:t>
            </a:r>
            <a:br/>
            <a:r>
              <a:t>• Max: 200%</a:t>
            </a:r>
            <a:br/>
            <a:r>
              <a:t>• Min: 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937760"/>
            <a:ext cx="228600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Circuit Breaker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303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Enabled: true</a:t>
            </a:r>
            <a:br/>
            <a:r>
              <a:t>• Rollback: automatic</a:t>
            </a:r>
            <a:br/>
            <a:r>
              <a:t>• Failure %: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DF0"/>
                </a:solidFill>
              </a:defRPr>
            </a:pPr>
            <a:r>
              <a:t>Pipeline Stages: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355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151"/>
                </a:solidFill>
              </a:defRPr>
            </a:pPr>
            <a:r>
              <a:t>Validate → Create Task Definition → Update Service → Wait for Steady State → Health Checks → Verify Metrics → Complete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Network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AWS VPC Architecture (Multi-AZ for High Availability)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A0"/>
                </a:solidFill>
              </a:defRPr>
            </a:pPr>
            <a:r>
              <a:t>AZ-1a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94560"/>
            <a:ext cx="27432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Public Subnet</a:t>
            </a:r>
            <a:br/>
            <a:r>
              <a:t>ALB, NAT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97480"/>
            <a:ext cx="27432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Private Subnet</a:t>
            </a:r>
            <a:br/>
            <a:r>
              <a:t>ECS Tasks, VMs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274320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Private Subnet</a:t>
            </a:r>
            <a:br/>
            <a:r>
              <a:t>Harness Delegates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A0"/>
                </a:solidFill>
              </a:defRPr>
            </a:pPr>
            <a:r>
              <a:t>AZ-1b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94560"/>
            <a:ext cx="27432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Public Subnet</a:t>
            </a:r>
            <a:br/>
            <a:r>
              <a:t>ALB, NAT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97480"/>
            <a:ext cx="27432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Private Subnet</a:t>
            </a:r>
            <a:br/>
            <a:r>
              <a:t>ECS Tasks, VMs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200400"/>
            <a:ext cx="274320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Private Subnet</a:t>
            </a:r>
            <a:br/>
            <a:r>
              <a:t>Harness Delegates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A0"/>
                </a:solidFill>
              </a:defRPr>
            </a:pPr>
            <a:r>
              <a:t>AZ-1c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194560"/>
            <a:ext cx="27432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Public Subnet</a:t>
            </a:r>
            <a:br/>
            <a:r>
              <a:t>ALB, NAT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697480"/>
            <a:ext cx="27432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Private Subnet</a:t>
            </a:r>
            <a:br/>
            <a:r>
              <a:t>ECS Tasks, VMs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200400"/>
            <a:ext cx="274320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Private Subnet</a:t>
            </a:r>
            <a:br/>
            <a:r>
              <a:t>Harness Delegates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DF0"/>
                </a:solidFill>
              </a:defRPr>
            </a:pPr>
            <a:r>
              <a:t>Network Components: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79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🌐 Internet Gateway: Public internet access for ALB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🔄 NAT Gateways: Outbound internet for private subnets (one per AZ)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⚖️ Application Load Balancer: Distributes traffic to ECS tasks/VMs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🔗 VPC Endpoints: Private AWS service access (ECS, ECR, S3, CloudWatch)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🔒 Security Groups: Stateful firewall rules for 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📊 VPC Flow Logs: Network traffic logging to CloudWatch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1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Security Group Rules: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852159"/>
            <a:ext cx="1828800" cy="27432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ALB 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89787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In: 80, 443 from 0.0.0.0/0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89787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Out: 8080 to ECS Task SG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199631"/>
            <a:ext cx="1828800" cy="27432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ECS Task SG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6245351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In: 8080 from ALB 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624535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Out: 443 to 0.0.0.0/0, 5432 to RDS SG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6547103"/>
            <a:ext cx="1828800" cy="27432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Delegate 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659282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In: None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659282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Out: 443 to Harness, 22 to VM SG, AWS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6986015"/>
            <a:ext cx="82296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User → Internet Gateway → ALB (Public) → ECS Tasks/VMs (Private) → NAT Gateway → AWS Services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438912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🔒 1. Network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7830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VPC isolation with private subnets</a:t>
            </a:r>
            <a:br/>
            <a:r>
              <a:t>• Security groups (stateful firewall)</a:t>
            </a:r>
            <a:br/>
            <a:r>
              <a:t>• Network ACLs (stateless firewall)</a:t>
            </a:r>
            <a:br/>
            <a:r>
              <a:t>• No inbound connections to delegates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438912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👥 2.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Role-Based Access Control (RBAC)</a:t>
            </a:r>
            <a:br/>
            <a:r>
              <a:t>• IAM roles for AWS resources</a:t>
            </a:r>
            <a:br/>
            <a:r>
              <a:t>• SSH key authentication (VMs)</a:t>
            </a:r>
            <a:br/>
            <a:r>
              <a:t>• MFA for Harness platform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438912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🔐 3. Secrets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1546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AWS Secrets Manager integration</a:t>
            </a:r>
            <a:br/>
            <a:r>
              <a:t>• HashiCorp Vault support</a:t>
            </a:r>
            <a:br/>
            <a:r>
              <a:t>• Encrypted at rest &amp; in transit</a:t>
            </a:r>
            <a:br/>
            <a:r>
              <a:t>• Automatic secret rotation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438912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🛡️ 4. Encryption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1546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TLS 1.3 for all communication</a:t>
            </a:r>
            <a:br/>
            <a:r>
              <a:t>• mTLS for delegate connections</a:t>
            </a:r>
            <a:br/>
            <a:r>
              <a:t>• Encrypted storage (EBS, RDS)</a:t>
            </a:r>
            <a:br/>
            <a:r>
              <a:t>• SSL/TLS termination at ALB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DF0"/>
                </a:solidFill>
              </a:defRPr>
            </a:pPr>
            <a:r>
              <a:t>Compliance &amp; Audit: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17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📋 Complete Audit Trails: Every action logged with timestamp, user, and change details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✅ Compliance Ready: SOC 2 Type II, ISO 27001, GDPR, HIPAA compliant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🔍 Policy as Code: OPA integration for automated policy enforcement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📊 Compliance Reports: Automated generation for audits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🚨 Alert on Policy Violations: Real-time notifications for policy breaches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806440"/>
            <a:ext cx="8229600" cy="6400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🔐 Security Best Practices</a:t>
            </a:r>
            <a:br/>
            <a:r>
              <a:t>Least privilege access | Regular key rotation | Security scanning | Vulnerability management | Incident response plan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Monitoring &amp; Continuous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DF0"/>
                </a:solidFill>
              </a:defRPr>
            </a:pPr>
            <a:r>
              <a:t>Monitoring Stack: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292608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Prometheus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</a:defRPr>
            </a:pPr>
            <a:r>
              <a:t>Metrics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9572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• Time-series database</a:t>
            </a:r>
            <a:br/>
            <a:r>
              <a:t>• PromQL queries</a:t>
            </a:r>
            <a:br/>
            <a:r>
              <a:t>• Alertmanager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292608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🐕 Datadog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DF0"/>
                </a:solidFill>
              </a:defRPr>
            </a:pPr>
            <a:r>
              <a:t>APM &amp;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9572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• Application Performance</a:t>
            </a:r>
            <a:br/>
            <a:r>
              <a:t>• Infrastructure monitoring</a:t>
            </a:r>
            <a:br/>
            <a:r>
              <a:t>• Log 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737360"/>
            <a:ext cx="292608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☁️ CloudWatch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</a:defRPr>
            </a:pPr>
            <a:r>
              <a:t>AWS 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9572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• ECS Container Insights</a:t>
            </a:r>
            <a:br/>
            <a:r>
              <a:t>• ALB metrics</a:t>
            </a:r>
            <a:br/>
            <a:r>
              <a:t>• Custom metrics &amp; alarms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08960"/>
            <a:ext cx="10058400" cy="45720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🤖 Harness Continuous Verification (AI-Powered)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657600"/>
            <a:ext cx="320040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Baseline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03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Compares current deployment metrics against previous successful deployments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069080"/>
            <a:ext cx="320040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Anomaly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Machine learning identifies unusual patterns in metrics and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480560"/>
            <a:ext cx="320040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Multi-Source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26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Aggregates data from Prometheus, Datadog, CloudWatch, and custom 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892040"/>
            <a:ext cx="320040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Auto-Rollback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37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Automatically triggers rollback if metrics exceed thresholds or anomalies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Key Metrics Monitored: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064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📉 Error Rates: HTTP 4xx/5xx errors, application exceptions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⏱️ Response Times: P50, P95, P99 latency measurements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💻 Resource Usage: CPU, memory, disk I/O, network bandwidth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📊 Throughput: Requests per second, transactions per minute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🎯 Business Metrics: Conversion rates, user actions, custom KPIs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🔗 Dependencies: Database latency, external API response times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7269480"/>
            <a:ext cx="731520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⏱️ Verification Timeline: 5-minute canary → 10-minute blue-green → 30-minute production soak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Deployment Strategy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64592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46304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Downtime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146304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Rollback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146304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Resource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371600"/>
            <a:ext cx="146304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371600"/>
            <a:ext cx="1828800" cy="36576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Best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645920" cy="4114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Rolling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01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Minimal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01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Manual</a:t>
            </a:r>
            <a:br/>
            <a:r>
              <a:t>5-10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901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Low</a:t>
            </a:r>
            <a:br/>
            <a:r>
              <a:t>(1x)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019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901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Standard</a:t>
            </a:r>
            <a:br/>
            <a:r>
              <a:t>deployments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331720"/>
            <a:ext cx="1645920" cy="4114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Blue-Green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Instant</a:t>
            </a:r>
            <a:br/>
            <a:r>
              <a:t>&lt; 1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High</a:t>
            </a:r>
            <a:br/>
            <a:r>
              <a:t>(2x)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404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04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Critical</a:t>
            </a:r>
            <a:br/>
            <a:r>
              <a:t>applications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834639"/>
            <a:ext cx="1645920" cy="41148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Canary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9077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9077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Auto</a:t>
            </a:r>
            <a:br/>
            <a:r>
              <a:t>2-3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9077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Medium</a:t>
            </a:r>
            <a:br/>
            <a:r>
              <a:t>(1.1-1.5x)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9077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9077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74151"/>
                </a:solidFill>
              </a:defRPr>
            </a:pPr>
            <a:r>
              <a:t>High-risk</a:t>
            </a:r>
            <a:br/>
            <a:r>
              <a:t>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118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DF0"/>
                </a:solidFill>
              </a:defRPr>
            </a:pPr>
            <a:r>
              <a:t>Decision Guide: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3931919"/>
            <a:ext cx="320040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74151"/>
                </a:solidFill>
              </a:defRPr>
            </a:pPr>
            <a:r>
              <a:t>Low-risk, frequent deployments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931919"/>
            <a:ext cx="164592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Rolling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7763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Cost-effective, simple, sufficient for most cases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4343399"/>
            <a:ext cx="320040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74151"/>
                </a:solidFill>
              </a:defRPr>
            </a:pPr>
            <a:r>
              <a:t>Zero-downtime requirement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4343399"/>
            <a:ext cx="164592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Blue-Green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8911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Instant switch, full validation, immediate rollback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4754879"/>
            <a:ext cx="320040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74151"/>
                </a:solidFill>
              </a:defRPr>
            </a:pPr>
            <a:r>
              <a:t>Major version upgrade or risky change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4754879"/>
            <a:ext cx="164592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Canary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80059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Progressive rollout, early issue detection, automated safety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71600" y="5166359"/>
            <a:ext cx="320040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74151"/>
                </a:solidFill>
              </a:defRPr>
            </a:pPr>
            <a:r>
              <a:t>Limited infrastructure capacity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5166359"/>
            <a:ext cx="164592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Rolling Update or Canary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1207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74151"/>
                </a:solidFill>
              </a:defRPr>
            </a:pPr>
            <a:r>
              <a:t>Don't require 2x resources like Blue-Green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760720"/>
            <a:ext cx="8229600" cy="5029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💡 Recommendation: Start with Rolling for non-prod, graduate to Blue-Green/Canary for production critical services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Best Practices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57200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🔧 VM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Use SSH keys, not passwords - rotate every 90 days</a:t>
            </a:r>
            <a:br/>
            <a:r>
              <a:t>• Always create backup before deployment</a:t>
            </a:r>
            <a:br/>
            <a:r>
              <a:t>• Test rollback procedures monthly</a:t>
            </a:r>
            <a:br/>
            <a:r>
              <a:t>• Implement comprehensive health checks</a:t>
            </a:r>
            <a:br/>
            <a:r>
              <a:t>• Monitor deployments for 30 minutes post-deployment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45720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🐳 ECS 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3736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Version control task definitions in Git</a:t>
            </a:r>
            <a:br/>
            <a:r>
              <a:t>• Right-size CPU/memory (monitor and adjust)</a:t>
            </a:r>
            <a:br/>
            <a:r>
              <a:t>• Use ALB with proper health check configuration</a:t>
            </a:r>
            <a:br/>
            <a:r>
              <a:t>• Enable deployment circuit breaker with auto-rollback</a:t>
            </a:r>
            <a:br/>
            <a:r>
              <a:t>• Leverage Container Insights for visibility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80360"/>
            <a:ext cx="457200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🔒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Use secrets management (never hardcode)</a:t>
            </a:r>
            <a:br/>
            <a:r>
              <a:t>• Implement RBAC with least privilege</a:t>
            </a:r>
            <a:br/>
            <a:r>
              <a:t>• Enable audit logging for all actions</a:t>
            </a:r>
            <a:br/>
            <a:r>
              <a:t>• Regular security scans (images and infrastructure)</a:t>
            </a:r>
            <a:br/>
            <a:r>
              <a:t>• Keep delegates and tools updated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880360"/>
            <a:ext cx="4572000" cy="3200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24612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• Set up alerts for critical metrics</a:t>
            </a:r>
            <a:br/>
            <a:r>
              <a:t>• Monitor error rates, response times, resource usage</a:t>
            </a:r>
            <a:br/>
            <a:r>
              <a:t>• Implement continuous verification with baselines</a:t>
            </a:r>
            <a:br/>
            <a:r>
              <a:t>• Create runbooks for common issues</a:t>
            </a:r>
            <a:br/>
            <a:r>
              <a:t>• Regular review of deployment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A0"/>
                </a:solidFill>
              </a:defRPr>
            </a:pPr>
            <a:r>
              <a:t>General Recommendations: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00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Start small: Begin with dev/QA environments before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Automate everything: Manual steps are error-prone and slow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Test failure scenarios: Deliberately test rollback and recovery procedures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Document thoroughly: Runbooks, architecture diagrams, troubleshooting guides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✓ Train your team: Regular training sessions and knowledge sharing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989320"/>
            <a:ext cx="73152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📈 Success Metrics: Deployment Frequency ↑ | Deployment Time ↓ | Incident Rate ↓ | MTTR ↓ | Team Confidence 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36576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🏗️ Week 1-2: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Set up Harness account</a:t>
            </a:r>
            <a:br/>
            <a:r>
              <a:t>• Install delegates</a:t>
            </a:r>
            <a:br/>
            <a:r>
              <a:t>• Configure connectors (Git, AWS, Docker)</a:t>
            </a:r>
            <a:br/>
            <a:r>
              <a:t>• Create environments (Dev, QA)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920240"/>
            <a:ext cx="2560320" cy="45720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7DF0"/>
                </a:solidFill>
              </a:defRPr>
            </a:pPr>
            <a:r>
              <a:t>✓ Harness platform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10058400" cy="36576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⚙️ Week 3-4: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Create service definitions</a:t>
            </a:r>
            <a:br/>
            <a:r>
              <a:t>• Build deployment pipelines</a:t>
            </a:r>
            <a:br/>
            <a:r>
              <a:t>• Configure deployment strategies</a:t>
            </a:r>
            <a:br/>
            <a:r>
              <a:t>• Set up health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00400"/>
            <a:ext cx="2560320" cy="45720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t>✓ Working pipelines in Dev/QA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058400" cy="36576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🧪 Week 5-6: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Test deployments in QA</a:t>
            </a:r>
            <a:br/>
            <a:r>
              <a:t>• Validate rollback procedures</a:t>
            </a:r>
            <a:br/>
            <a:r>
              <a:t>• Performance testing</a:t>
            </a:r>
            <a:br/>
            <a:r>
              <a:t>• Security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480560"/>
            <a:ext cx="2560320" cy="45720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B923C"/>
                </a:solidFill>
              </a:defRPr>
            </a:pPr>
            <a:r>
              <a:t>✓ Tested and validated pipelines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12080"/>
            <a:ext cx="10058400" cy="36576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Week 7-8: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235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Production environment setup</a:t>
            </a:r>
            <a:br/>
            <a:r>
              <a:t>• Final security review</a:t>
            </a:r>
            <a:br/>
            <a:r>
              <a:t>• Production deployment</a:t>
            </a:r>
            <a:br/>
            <a:r>
              <a:t>• Team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760720"/>
            <a:ext cx="2560320" cy="45720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4444"/>
                </a:solidFill>
              </a:defRPr>
            </a:pPr>
            <a:r>
              <a:t>✓ Production-ready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583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A0"/>
                </a:solidFill>
              </a:defRPr>
            </a:pPr>
            <a:r>
              <a:t>Resource Requirements: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6903720"/>
            <a:ext cx="1828800" cy="2743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DevOps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7223759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t>1-2 FTE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7379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Platform setup, pipeline development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6903720"/>
            <a:ext cx="1828800" cy="2743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7223759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t>0.5-1 FTE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7379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Application configurations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6903720"/>
            <a:ext cx="1828800" cy="27432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QA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7223759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74151"/>
                </a:solidFill>
              </a:defRPr>
            </a:pPr>
            <a:r>
              <a:t>0.5 FTE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7379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</a:defRPr>
            </a:pPr>
            <a:r>
              <a:t>Testing and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7726679"/>
            <a:ext cx="82296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✅ Success Criteria: All pipelines tested | Team trained | Production deployment successful | Monitoring configured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Business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2286000" cy="6400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Faster</a:t>
            </a:r>
            <a:br/>
            <a: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Automated pipelines reduce deployment time from hours to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286000" cy="6400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DF0"/>
                </a:solidFill>
              </a:defRPr>
            </a:pPr>
            <a:r>
              <a:t>Fewer</a:t>
            </a:r>
            <a:br/>
            <a:r>
              <a:t>Incidents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Automated verification catches issues before production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2286000" cy="64008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</a:defRPr>
            </a:pPr>
            <a:r>
              <a:t>Downtime</a:t>
            </a:r>
            <a:br/>
            <a:r>
              <a:t>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Blue-Green and Canary strategies ensure continuous availability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371600"/>
            <a:ext cx="2286000" cy="64008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3A0"/>
                </a:solidFill>
              </a:defRPr>
            </a:pPr>
            <a:r>
              <a:t>Audit</a:t>
            </a:r>
            <a:br/>
            <a: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74151"/>
                </a:solidFill>
              </a:defRPr>
            </a:pPr>
            <a:r>
              <a:t>Complete audit trails for SOC 2, ISO 27001, HIPAA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DF0"/>
                </a:solidFill>
              </a:defRPr>
            </a:pPr>
            <a:r>
              <a:t>Additional Benefits: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DF0"/>
                </a:solidFill>
              </a:defRPr>
            </a:pPr>
            <a:r>
              <a:t>⚡ Speed &amp;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40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Deploy to production multiple times per day</a:t>
            </a:r>
            <a:br/>
            <a:r>
              <a:t>• Parallel deployments across environments</a:t>
            </a:r>
            <a:br/>
            <a:r>
              <a:t>• Automated artifact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DF0"/>
                </a:solidFill>
              </a:defRPr>
            </a:pPr>
            <a:r>
              <a:t>🎯 Quality &amp;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8404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Consistent deployments across environments</a:t>
            </a:r>
            <a:br/>
            <a:r>
              <a:t>• Automated rollback on failures</a:t>
            </a:r>
            <a:br/>
            <a:r>
              <a:t>• Comprehensive health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DF0"/>
                </a:solidFill>
              </a:defRPr>
            </a:pPr>
            <a:r>
              <a:t>👥 Team Productivity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Self-service deployment for developers</a:t>
            </a:r>
            <a:br/>
            <a:r>
              <a:t>• Reduced manual intervention</a:t>
            </a:r>
            <a:br/>
            <a:r>
              <a:t>• Clear deployment history and audit trails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DF0"/>
                </a:solidFill>
              </a:defRPr>
            </a:pPr>
            <a:r>
              <a:t>💰 Cost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754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Reduced operations overhead</a:t>
            </a:r>
            <a:br/>
            <a:r>
              <a:t>• Fewer production incidents = less firefighting</a:t>
            </a:r>
            <a:br/>
            <a:r>
              <a:t>• Efficient resource utilization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577840"/>
            <a:ext cx="8229600" cy="5486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💎 Typical ROI: 3-6 months | Reduced MTTR by 80% | Increased deployment frequency by 10x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32004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🏗️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Control Plane (SaaS) + Delegates (Customer Network) = Secure &amp; Scalable</a:t>
            </a:r>
            <a:br/>
            <a:r>
              <a:t>• No inbound connections required - delegates initiate outbound only</a:t>
            </a:r>
            <a:br/>
            <a:r>
              <a:t>• Multi-AZ deployment for high 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10058400" cy="320040"/>
          </a:xfrm>
          <a:prstGeom prst="roundRect">
            <a:avLst/>
          </a:prstGeom>
          <a:solidFill>
            <a:srgbClr val="0033A0"/>
          </a:solidFill>
          <a:ln>
            <a:solidFill>
              <a:srgbClr val="003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VM 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88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SSH-based deployment to traditional servers</a:t>
            </a:r>
            <a:br/>
            <a:r>
              <a:t>• 7-phase process: Trigger → Pre-Deploy → Deploy → Post-Deploy → Verify → Complete</a:t>
            </a:r>
            <a:br/>
            <a:r>
              <a:t>• Rolling updates with backup and rollback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00584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🐳 ECS Deployments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Container orchestration on AWS Fargate/EC2</a:t>
            </a:r>
            <a:br/>
            <a:r>
              <a:t>• Blue-Green for zero-downtime, Canary for risk mitigation</a:t>
            </a:r>
            <a:br/>
            <a:r>
              <a:t>• Deep AWS integration (ALB, ECR, CloudWatch)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26280"/>
            <a:ext cx="10058400" cy="32004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AI-powered continuous verification compares against baseline</a:t>
            </a:r>
            <a:br/>
            <a:r>
              <a:t>• Automatic rollback on anomaly detection</a:t>
            </a:r>
            <a:br/>
            <a:r>
              <a:t>• Multi-source monitoring (Prometheus, Datadog, CloudWatch)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77840"/>
            <a:ext cx="1005840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🔒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943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• Network isolation with VPC, security groups, private subnets</a:t>
            </a:r>
            <a:br/>
            <a:r>
              <a:t>• Secrets management (AWS Secrets Manager, Vault)</a:t>
            </a:r>
            <a:br/>
            <a:r>
              <a:t>• Complete audit trails and compliance (SOC 2, ISO 27001)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6720840"/>
            <a:ext cx="9144000" cy="64008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✨ Harness CD enables: Faster deployments | Fewer incidents | Zero downtime | Complete visibility | Automated safety | Enterprise security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DF0"/>
                </a:solidFill>
              </a:defRPr>
            </a:pPr>
            <a: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57200"/>
          </a:xfrm>
          <a:prstGeom prst="roundRect">
            <a:avLst/>
          </a:prstGeom>
          <a:solidFill>
            <a:srgbClr val="007DF0"/>
          </a:solidFill>
          <a:ln>
            <a:solidFill>
              <a:srgbClr val="007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Immediate Actions (This Week)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Set up Harness account (free trial: https://harness.io/trial)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Identify pilot application/service for initial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Form project team (1-2 DevOps engineers, 1 developer)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Review infrastructure requirements and access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10058400" cy="4572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📅 Short-term (Next 2 Weeks)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Install Harness delegate in your environment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Configure connectors (Git, AWS/Cloud provider, Artifact repositories)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Create first service definition and deployment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Test deployment in Dev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80560"/>
            <a:ext cx="10058400" cy="457200"/>
          </a:xfrm>
          <a:prstGeom prst="roundRect">
            <a:avLst/>
          </a:prstGeom>
          <a:solidFill>
            <a:srgbClr val="FB923C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Medium-term (Next 4-6 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Expand to QA and Staging environments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Implement Blue-Green or Canary deployment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Set up continuous verification and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74151"/>
                </a:solidFill>
              </a:defRPr>
            </a:pPr>
            <a:r>
              <a:t>✓ Plan production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A0"/>
                </a:solidFill>
              </a:defRPr>
            </a:pPr>
            <a:r>
              <a:t>📞 Resources &amp; Support: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355079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📚 Documentation: https://developer.harness.io/docs/continuous-delivery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🎓 Harness University: https://university.harness.io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💬 Community: https://community.harness.io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74151"/>
                </a:solidFill>
              </a:defRPr>
            </a:pPr>
            <a:r>
              <a:t>📧 Sales: sales@harness.io | Support: support@harness.io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📧 Email: sales@harness.io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006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🌐 Website: https://harness.io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2120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📚 Documentation: https://developer.harness.io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235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💬 Community: https://community.harness.io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