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66CC"/>
                </a:solidFill>
              </a:defRPr>
            </a:pPr>
            <a:r>
              <a:t>Harness Continuous Delivery (CD)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A86B"/>
                </a:solidFill>
              </a:defRPr>
            </a:pPr>
            <a:r>
              <a:t>VM &amp; ECS Deployment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33333"/>
                </a:solidFill>
              </a:defRPr>
            </a:pPr>
            <a:r>
              <a:t>Detailed Architecture &amp; Implementation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1. Introduction to Harness CD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2. CD Flow Overview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3. VM Deployment Architecture &amp; Workflow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4. VM Deployment Pipeline Details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5. ECS Deployment Architecture &amp; Workflow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6. ECS Deployment Strategies (Rolling, Blue-Green, Canary)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7. Best Practices &amp; Security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8. Monitoring &amp; Rollback Strategies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9. Implementation Timeline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What is Harness CD?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Modern Continuous Delivery platform for automating application deployments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Key Capabilities: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✓ Multi-cloud deployments (AWS, Azure, GCP, On-Premise)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✓ Multiple deployment targets (VM, ECS, Kubernetes, Serverless)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✓ Advanced deployment strategies (Rolling, Blue-Green, Canary)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✓ AI-powered continuous verification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✓ Automated rollback capabilities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✓ Policy as Code for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Business Benefits: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• 70% reduction in deployment time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• 40-60% fewer production incidents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• Zero-downtime deployments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• Complete audit trails and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CD Flow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Code</a:t>
            </a:r>
          </a:p>
          <a:p>
            <a:r>
              <a:t>Commit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17520" y="2103120"/>
            <a:ext cx="36576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383280" y="1828800"/>
            <a:ext cx="1645920" cy="54864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CI</a:t>
            </a:r>
          </a:p>
          <a:p>
            <a:r>
              <a:t>Pipeline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0" y="2103120"/>
            <a:ext cx="36576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394960" y="1828800"/>
            <a:ext cx="1645920" cy="54864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Artifact</a:t>
            </a:r>
          </a:p>
          <a:p>
            <a:r>
              <a:t>Registry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3200400"/>
            <a:ext cx="365760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Harness CD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389120"/>
            <a:ext cx="1371600" cy="54864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Dev</a:t>
            </a:r>
          </a:p>
          <a:p>
            <a:r>
              <a:t>✓ Deploy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466344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86000" y="4389120"/>
            <a:ext cx="1371600" cy="54864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QA</a:t>
            </a:r>
          </a:p>
          <a:p>
            <a:r>
              <a:t>✓ Test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466344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114800" y="4389120"/>
            <a:ext cx="1371600" cy="54864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Staging</a:t>
            </a:r>
          </a:p>
          <a:p>
            <a:r>
              <a:t>✓ Verify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0" y="466344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943600" y="4389120"/>
            <a:ext cx="1645920" cy="54864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Production</a:t>
            </a:r>
          </a:p>
          <a:p>
            <a:r>
              <a:t>✓ Monitor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VM Deployment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5486400" cy="73152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Harness CD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2286000"/>
            <a:ext cx="1371600" cy="45720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2286000"/>
            <a:ext cx="1371600" cy="45720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2286000"/>
            <a:ext cx="1371600" cy="45720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Environment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3017520"/>
            <a:ext cx="2743200" cy="54864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Harness Delegate (Agent)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SSH/Agent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3566160"/>
            <a:ext cx="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" y="4297680"/>
            <a:ext cx="2103120" cy="91440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VM Server 1</a:t>
            </a:r>
          </a:p>
          <a:p>
            <a:r>
              <a:t>(Production)</a:t>
            </a:r>
          </a:p>
          <a:p>
            <a:r>
              <a:t>• App Service</a:t>
            </a:r>
          </a:p>
          <a:p>
            <a:r>
              <a:t>• Port: 8080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4297680"/>
            <a:ext cx="2103120" cy="91440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VM Server 2</a:t>
            </a:r>
          </a:p>
          <a:p>
            <a:r>
              <a:t>(Staging)</a:t>
            </a:r>
          </a:p>
          <a:p>
            <a:r>
              <a:t>• App Service</a:t>
            </a:r>
          </a:p>
          <a:p>
            <a:r>
              <a:t>• Port: 8080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297680"/>
            <a:ext cx="2103120" cy="91440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VM Server N</a:t>
            </a:r>
          </a:p>
          <a:p>
            <a:r>
              <a:t>(Dev/QA)</a:t>
            </a:r>
          </a:p>
          <a:p>
            <a:r>
              <a:t>• App Service</a:t>
            </a:r>
          </a:p>
          <a:p>
            <a:r>
              <a:t>• Port: 8080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🔧 SSH Connection  |  📦 Artifact Deployment  |  ✓ Health Checks  |  🔄 Rollback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VM Deployment Dataflow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1. Trigger: Git Push → Manual → Scheduled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2. Artifact Fetch: Docker Registry / Artifactory / S3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3. Delegate Selection: Choose healthy delegate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4. SSH Connection: Establish secure connection to VM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5. Pre-Deployment: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   • Backup current application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   • Stop running services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   • Validate environment (disk, memory, dependencies)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6. Deployment Execution: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   • Transfer artifacts via SCP/SFTP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   • Extract and install application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   • Update configuration files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7. Post-Deployment: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   • Start services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   • Health checks (HTTP endpoints, process status)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   • Smoke tests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8. Continuous Verification: Monitor metrics &amp; auto-rollback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9. Completion: Success ✓ or Rollback 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VM Deployment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2103120" cy="45720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Harness Delegate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• Lightweight agent</a:t>
            </a:r>
            <a:br/>
            <a:r>
              <a:t>• Executes commands</a:t>
            </a:r>
            <a:br/>
            <a:r>
              <a:t>• Reports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645920"/>
            <a:ext cx="2103120" cy="45720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SSH Connection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194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• Secure shell (Port 22)</a:t>
            </a:r>
            <a:br/>
            <a:r>
              <a:t>• SSH key authentication</a:t>
            </a:r>
            <a:br/>
            <a:r>
              <a:t>• Encrypted communication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2103120" cy="45720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VM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• Linux/Windows OS</a:t>
            </a:r>
            <a:br/>
            <a:r>
              <a:t>• Network access required</a:t>
            </a:r>
            <a:br/>
            <a:r>
              <a:t>• Sufficient resources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2103120" cy="45720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Artifacts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• TAR/ZIP/RPM/DEB</a:t>
            </a:r>
            <a:br/>
            <a:r>
              <a:t>• Docker images</a:t>
            </a:r>
            <a:br/>
            <a:r>
              <a:t>• Versioned &amp; tagged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3657600"/>
            <a:ext cx="2103120" cy="45720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2062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• App properties</a:t>
            </a:r>
            <a:br/>
            <a:r>
              <a:t>• Environment configs</a:t>
            </a:r>
            <a:br/>
            <a:r>
              <a:t>• Secrets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657600"/>
            <a:ext cx="2103120" cy="45720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2062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• Health checks</a:t>
            </a:r>
            <a:br/>
            <a:r>
              <a:t>• Prometheus/Datadog</a:t>
            </a:r>
            <a:br/>
            <a:r>
              <a:t>• Custom metrics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VM Pipeline: Detailed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Step 1: Backup Current Application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 • Create timestamped backup directory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 • Copy application files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 • Archive for rollback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Step 2: Stop Services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 • systemctl stop myapp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 • Verify service stopped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Step 3: Download &amp; Extract Artifacts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 • Fetch from artifact repository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 • Extract to deployment directory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 • Set proper permissions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Step 4: Update Configuration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 • Copy environment-specific configs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 • Replace variables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 • Validate configuration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Step 5: Start Services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 • systemctl start myapp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 • Verify service health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VM Pre-Deployment Phase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371600"/>
            <a:ext cx="365760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Pre-Deployment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1828800" cy="54864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Environment</a:t>
            </a:r>
          </a:p>
          <a:p>
            <a: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• Disk space</a:t>
            </a:r>
            <a:br/>
            <a:r>
              <a:t>• Memory</a:t>
            </a:r>
            <a:br/>
            <a:r>
              <a:t>• Dependencies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286000"/>
            <a:ext cx="1828800" cy="54864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Backup</a:t>
            </a:r>
          </a:p>
          <a:p>
            <a:r>
              <a:t>Current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• Create backup</a:t>
            </a:r>
            <a:br/>
            <a:r>
              <a:t>• Archive</a:t>
            </a:r>
            <a:br/>
            <a:r>
              <a:t>• Store safely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286000"/>
            <a:ext cx="1828800" cy="54864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Stop</a:t>
            </a:r>
          </a:p>
          <a:p>
            <a:r>
              <a:t>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• Stop app</a:t>
            </a:r>
            <a:br/>
            <a:r>
              <a:t>• Verify stopped</a:t>
            </a:r>
            <a:br/>
            <a:r>
              <a:t>• Wait for drain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Best Practices: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720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✓ Always backup before deployment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✓ Validate environment prerequisites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✓ Check for running processes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✓ Verify sufficient disk space (at least 2x artifact size)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✓ Document pre-deployment state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VM Deployment Execution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371600"/>
            <a:ext cx="365760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Deployment Execution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1554480" cy="54864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Transfer</a:t>
            </a:r>
          </a:p>
          <a:p>
            <a:r>
              <a:t>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</a:defRPr>
            </a:pPr>
            <a:r>
              <a:t>SCP/SFTP</a:t>
            </a:r>
            <a:br/>
            <a:r>
              <a:t>Verify transfer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68880" y="256032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43200" y="2286000"/>
            <a:ext cx="1554480" cy="54864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Extract &amp;</a:t>
            </a:r>
          </a:p>
          <a:p>
            <a:r>
              <a:t>Install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9260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</a:defRPr>
            </a:pPr>
            <a:r>
              <a:t>Unzip/Untar</a:t>
            </a:r>
            <a:br/>
            <a:r>
              <a:t>Set permissions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97680" y="256032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0" y="2286000"/>
            <a:ext cx="1554480" cy="54864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Update</a:t>
            </a:r>
          </a:p>
          <a:p>
            <a:r>
              <a:t>Config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9260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</a:defRPr>
            </a:pPr>
            <a:r>
              <a:t>Copy configs</a:t>
            </a:r>
            <a:br/>
            <a:r>
              <a:t>Replace vars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0" y="256032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0" y="2286000"/>
            <a:ext cx="1554480" cy="54864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Start</a:t>
            </a:r>
          </a:p>
          <a:p>
            <a:r>
              <a:t>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</a:defRPr>
            </a:pPr>
            <a:r>
              <a:t>Start app</a:t>
            </a:r>
            <a:br/>
            <a:r>
              <a:t>Verify running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Example Commands: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9768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# Transfer artifact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scp myapp.tar.gz user@vm:/opt/myapp/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# Extract and install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tar -xzf myapp.tar.gz &amp;&amp; chmod +x bin/myapp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# Update configuration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cp config/app.properties /opt/myapp/conf/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# Start service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systemctl start myapp &amp;&amp; systemctl status myapp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VM Post-Deployment Phase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371600"/>
            <a:ext cx="365760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Post-Deployment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1828800" cy="54864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Health</a:t>
            </a:r>
          </a:p>
          <a:p>
            <a:r>
              <a:t>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• Process status</a:t>
            </a:r>
            <a:br/>
            <a:r>
              <a:t>• Port listening</a:t>
            </a:r>
            <a:br/>
            <a:r>
              <a:t>• HTTP /health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286000"/>
            <a:ext cx="1828800" cy="54864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Smoke</a:t>
            </a:r>
          </a:p>
          <a:p>
            <a:r>
              <a:t>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• API endpoints</a:t>
            </a:r>
            <a:br/>
            <a:r>
              <a:t>• Functionality</a:t>
            </a:r>
            <a:br/>
            <a:r>
              <a:t>• Error logs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286000"/>
            <a:ext cx="1828800" cy="54864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Continuous</a:t>
            </a:r>
          </a:p>
          <a:p>
            <a:r>
              <a:t>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• Metrics</a:t>
            </a:r>
            <a:br/>
            <a:r>
              <a:t>• Performance</a:t>
            </a:r>
            <a:br/>
            <a:r>
              <a:t>• Auto-rollback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Verification Checklist: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72000"/>
            <a:ext cx="6400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✓ Service is running (systemctl status)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✓ Application port is listening (netstat -tulpn)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✓ Health endpoint returns 200 OK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✓ API endpoints respond correctly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✓ No errors in application logs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✓ Response times within acceptable range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✓ Resource usage (CPU, memory) normal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✓ External dependencies accessible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ECS Deployment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5486400" cy="64008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Harness CD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2194560"/>
            <a:ext cx="1371600" cy="45720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2194560"/>
            <a:ext cx="1371600" cy="45720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2194560"/>
            <a:ext cx="1371600" cy="45720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Environment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926080"/>
            <a:ext cx="2743200" cy="45720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Harness Delegate (AWS VPC)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35661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AWS APIs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3383280"/>
            <a:ext cx="0" cy="54864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" y="4206240"/>
            <a:ext cx="1828800" cy="73152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ECS Cluster</a:t>
            </a:r>
          </a:p>
          <a:p>
            <a:r>
              <a:t>(Production)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4206240"/>
            <a:ext cx="1828800" cy="73152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ECS Service</a:t>
            </a:r>
          </a:p>
          <a:p>
            <a:r>
              <a:t>(myapp-service)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4206240"/>
            <a:ext cx="1828800" cy="73152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Task Definition</a:t>
            </a:r>
          </a:p>
          <a:p>
            <a:r>
              <a:t>(myapp-task)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5303520"/>
            <a:ext cx="2286000" cy="54864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Application Load</a:t>
            </a:r>
          </a:p>
          <a:p>
            <a:r>
              <a:t>Balancer (ALB)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5303520"/>
            <a:ext cx="2286000" cy="54864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ECR Registry</a:t>
            </a:r>
          </a:p>
          <a:p>
            <a:r>
              <a:t>(Container Images)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</a:defRPr>
            </a:pPr>
            <a:r>
              <a:t>☁️ AWS Services  |  📦 Container Deployment  |  ⚖️ Load Balancing  |  🔄 Auto Scaling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ECS Deployment Dataflow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1. Trigger: CI Pipeline Complete → Manual → Scheduled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2. ECR Artifact Fetch: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 • Authenticate with AWS ECR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 • Pull image metadata (tag, digest, size)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 • Validate image exists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3. AWS Connection: IAM role/keys → Validate permissions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4. Pre-Deployment: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 • Get current task definition revision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 • Get current service status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 • Validate ECS cluster capacity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5. Create New Task Definition: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 • Update container image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 • Update environment variables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 • Register new revision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6. Deployment Strategy: Rolling / Blue-Green / Canary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7. ECS Service Update: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 • Start new tasks with new task definition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 • Register tasks with ALB target group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 • Wait for health checks to pass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 • Deregister and stop old tasks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8. Verification: Task status, health checks, endpoints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9. Completion: Success ✓ or Auto-Rollback 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Amazon ECS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2103120" cy="45720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ECS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• Logical grouping</a:t>
            </a:r>
            <a:br/>
            <a:r>
              <a:t>• EC2 or Fargate</a:t>
            </a:r>
            <a:br/>
            <a:r>
              <a:t>• Resource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645920"/>
            <a:ext cx="2103120" cy="45720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ECS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194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• Maintains task count</a:t>
            </a:r>
            <a:br/>
            <a:r>
              <a:t>• Load balancing</a:t>
            </a:r>
            <a:br/>
            <a:r>
              <a:t>• Auto scaling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2103120" cy="45720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Task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• Container blueprint</a:t>
            </a:r>
            <a:br/>
            <a:r>
              <a:t>• CPU/Memory</a:t>
            </a:r>
            <a:br/>
            <a:r>
              <a:t>• Image &amp; 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2103120" cy="45720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• Running instances</a:t>
            </a:r>
            <a:br/>
            <a:r>
              <a:t>• Fargate/EC2</a:t>
            </a:r>
            <a:br/>
            <a:r>
              <a:t>• VPC networking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3657600"/>
            <a:ext cx="2103120" cy="45720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ALB/NLB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2062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• Traffic routing</a:t>
            </a:r>
            <a:br/>
            <a:r>
              <a:t>• Health checks</a:t>
            </a:r>
            <a:br/>
            <a:r>
              <a:t>• SSL termination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657600"/>
            <a:ext cx="2103120" cy="45720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2062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• Image repository</a:t>
            </a:r>
            <a:br/>
            <a:r>
              <a:t>• Integrated with ECS</a:t>
            </a:r>
            <a:br/>
            <a:r>
              <a:t>• Image scanning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ECS Task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Task Definition Structure: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1828800" cy="45720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Container</a:t>
            </a:r>
          </a:p>
          <a:p>
            <a:r>
              <a:t>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</a:defRPr>
            </a:pPr>
            <a:r>
              <a:t>• Image</a:t>
            </a:r>
            <a:br/>
            <a:r>
              <a:t>• Ports</a:t>
            </a:r>
            <a:br/>
            <a:r>
              <a:t>• Environment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011680"/>
            <a:ext cx="1828800" cy="45720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Resource</a:t>
            </a:r>
          </a:p>
          <a:p>
            <a:r>
              <a:t>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560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</a:defRPr>
            </a:pPr>
            <a:r>
              <a:t>• CPU: 256</a:t>
            </a:r>
            <a:br/>
            <a:r>
              <a:t>• Memory: 512MB</a:t>
            </a:r>
            <a:br/>
            <a:r>
              <a:t>• GPU (optional)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011680"/>
            <a:ext cx="1828800" cy="45720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Networking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560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</a:defRPr>
            </a:pPr>
            <a:r>
              <a:t>• Network mode</a:t>
            </a:r>
            <a:br/>
            <a:r>
              <a:t>• awsvpc</a:t>
            </a:r>
            <a:br/>
            <a:r>
              <a:t>• Security groups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Example Task Definition: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93192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Family: myapp-task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Launch Type: FARGATE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CPU: 256 (0.25 vCPU)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Memory: 512 MB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Container Definition: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Name: myapp-container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Image: 123456789012.dkr.ecr.us-east-1.amazonaws.com/myapp:v1.2.3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Port Mapping: 8080:8080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Environment Variables: ENVIRONMENT=production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Log Configuration: awslogs → CloudWatch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Network Mode: awsvpc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Requires Compatibilities: FARGATE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ECS Deployment Strategies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1828800" cy="45720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Rolling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</a:defRPr>
            </a:pPr>
            <a:r>
              <a:t>• Default strategy</a:t>
            </a:r>
            <a:br/>
            <a:r>
              <a:t>• Updates one by one</a:t>
            </a:r>
            <a:br/>
            <a:r>
              <a:t>• Minimal downtime</a:t>
            </a:r>
            <a:br/>
            <a:r>
              <a:t>• Simple rollback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6B"/>
                </a:solidFill>
              </a:defRPr>
            </a:pPr>
            <a:r>
              <a:t>Use When:</a:t>
            </a:r>
            <a:br/>
            <a:r>
              <a:t>• Standard deployments</a:t>
            </a:r>
            <a:br/>
            <a:r>
              <a:t>• Low-risk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828800"/>
            <a:ext cx="1828800" cy="45720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Blue-Green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3774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</a:defRPr>
            </a:pPr>
            <a:r>
              <a:t>• Two environments</a:t>
            </a:r>
            <a:br/>
            <a:r>
              <a:t>• Instant switch</a:t>
            </a:r>
            <a:br/>
            <a:r>
              <a:t>• Zero downtime</a:t>
            </a:r>
            <a:br/>
            <a:r>
              <a:t>• Easy rollback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8404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Use When:</a:t>
            </a:r>
            <a:br/>
            <a:r>
              <a:t>• Critical apps</a:t>
            </a:r>
            <a:br/>
            <a:r>
              <a:t>• Need instant rollback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1828800" cy="45720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Canary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3774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</a:defRPr>
            </a:pPr>
            <a:r>
              <a:t>• Gradual rollout</a:t>
            </a:r>
            <a:br/>
            <a:r>
              <a:t>• 10% → 50% → 100%</a:t>
            </a:r>
            <a:br/>
            <a:r>
              <a:t>• Risk mitigation</a:t>
            </a:r>
            <a:br/>
            <a:r>
              <a:t>• Performance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8404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600"/>
                </a:solidFill>
              </a:defRPr>
            </a:pPr>
            <a:r>
              <a:t>Use When:</a:t>
            </a:r>
            <a:br/>
            <a:r>
              <a:t>• High-risk changes</a:t>
            </a:r>
            <a:br/>
            <a:r>
              <a:t>• Need validation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ECS Rolling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Rolling Update Process: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1463040" cy="45720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Current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Old tasks: 3</a:t>
            </a:r>
            <a:br/>
            <a:r>
              <a:t>Running v1.0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60320" y="2240280"/>
            <a:ext cx="274319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26080" y="2011680"/>
            <a:ext cx="1463040" cy="45720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Start New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5603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New task: 1</a:t>
            </a:r>
            <a:br/>
            <a:r>
              <a:t>Starting v1.1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89120" y="224028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754880" y="2011680"/>
            <a:ext cx="1463040" cy="45720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Health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5603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New task: 1</a:t>
            </a:r>
            <a:br/>
            <a:r>
              <a:t>Healthy ✓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17920" y="224028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83680" y="2011680"/>
            <a:ext cx="1463040" cy="45720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Stop Old 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</a:defRPr>
            </a:pPr>
            <a:r>
              <a:t>Old task: 2</a:t>
            </a:r>
            <a:br/>
            <a:r>
              <a:t>New task: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Deployment Configuration: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319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Deployment Configuration: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Maximum Percent: 200%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  (Can run up to 6 tasks during deployment if desired count is 3)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Minimum Healthy Percent: 100%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  (Must maintain at least 3 healthy tasks)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Deployment Steps: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1. Start new task with new task definition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2. Wait for task to reach RUNNING state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3. Register task with target group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4. Wait for health checks to pass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5. Deregister old task from target group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6. Stop old task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7. Repeat for remaining tasks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ECS Blue-Green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Blue-Green Deployment Process: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2560320" cy="45720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Blue (Old)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100% traffic</a:t>
            </a:r>
            <a:br/>
            <a:r>
              <a:t>v1.0 running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011680"/>
            <a:ext cx="2560320" cy="45720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Green (New)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560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0% traffic</a:t>
            </a:r>
            <a:br/>
            <a:r>
              <a:t>v1.1 deploying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200400"/>
            <a:ext cx="2560320" cy="45720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Switch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7490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0% traffic</a:t>
            </a:r>
            <a:br/>
            <a:r>
              <a:t>v1.0 standby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3200400"/>
            <a:ext cx="2560320" cy="45720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7490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100% traffic</a:t>
            </a:r>
            <a:br/>
            <a:r>
              <a:t>v1.1 running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Traffic Shifting Strategy: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Phase 1: Deploy Green Environment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Create new ECS service with new task definition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Deploy to separate target group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Run health checks and smoke tests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Phase 2: Gradual Traffic Shift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10% traffic to Green → Verify 5 min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50% traffic to Green → Verify 5 min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100% traffic to Green → Monitor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Phase 3: Cleanup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Keep Blue environment for 24h (rollback window)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Terminate Blue environment after validation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ECS Canary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Canary Deployment Process: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1828800" cy="45720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10% Canary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</a:defRPr>
            </a:pPr>
            <a:r>
              <a:t>1 new task</a:t>
            </a:r>
            <a:br/>
            <a:r>
              <a:t>9 old tasks</a:t>
            </a:r>
            <a:br/>
            <a:r>
              <a:t>Verify 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011680"/>
            <a:ext cx="1828800" cy="45720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50% Canary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560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</a:defRPr>
            </a:pPr>
            <a:r>
              <a:t>5 new tasks</a:t>
            </a:r>
            <a:br/>
            <a:r>
              <a:t>5 old tasks</a:t>
            </a:r>
            <a:br/>
            <a:r>
              <a:t>Verify 10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011680"/>
            <a:ext cx="1828800" cy="45720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100% 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560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</a:defRPr>
            </a:pPr>
            <a:r>
              <a:t>10 new tasks</a:t>
            </a:r>
            <a:br/>
            <a:r>
              <a:t>0 old tasks</a:t>
            </a:r>
            <a:br/>
            <a:r>
              <a:t>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Canary Configuration: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93192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Step 1: Deploy Canary (10%)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Instance Selection: Count = 1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Deploy new task definition to 1 task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Verification Duration: 5 minutes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Metrics: Error rate &lt; 1%, Response time &lt; baseline + 10%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Step 2: Increase to 50%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Instance Selection: Count = 5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Verification Duration: 10 minutes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Advanced metrics: CPU, memory, custom app metrics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Step 3: Full Deployment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Delete canary tasks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Rolling deployment to remaining tasks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Continuous monitoring for 30 minutes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Auto-Rollback Triggers: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Error rate exceeds threshold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Health checks fail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Performance degradation detected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Deployment Strategy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66CC"/>
                </a:solidFill>
              </a:defRPr>
            </a:pPr>
            <a:r>
              <a:t>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66CC"/>
                </a:solidFill>
              </a:defRPr>
            </a:pPr>
            <a:r>
              <a:t>Downtime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66CC"/>
                </a:solidFill>
              </a:defRPr>
            </a:pPr>
            <a:r>
              <a:t>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66CC"/>
                </a:solidFill>
              </a:defRPr>
            </a:pPr>
            <a: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66CC"/>
                </a:solidFill>
              </a:defRPr>
            </a:pPr>
            <a:r>
              <a:t>Best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Rolling Update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Minimal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Manual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</a:defRPr>
            </a:pPr>
            <a:r>
              <a:t>Standard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Blue-Green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377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Zero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377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Instant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377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377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</a:defRPr>
            </a:pPr>
            <a:r>
              <a:t>Critical apps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Canary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Zero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Automatic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</a:defRPr>
            </a:pPr>
            <a:r>
              <a:t>High-risk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Decision Matrix: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11480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Choose Rolling Update when: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Standard, low-risk deployments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Simple application architecture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Limited infrastructure capacity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Choose Blue-Green when: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Zero downtime is critical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Need instant rollback capability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Sufficient infrastructure capacity (2x)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Choose Canary when: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High-risk changes (major updates, architecture changes)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Need gradual validation with real traffic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Want automated rollback based on metrics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VM Deployment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SSH Security: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✓ Use SSH keys instead of passwords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✓ Rotate SSH keys regularly (every 90 days)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✓ Use bastion hosts for production access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✓ Implement SSH key management solution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Backup Strategy: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✓ Always backup before deployment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✓ Keep multiple backup versions (last 5 deployments)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✓ Test restore procedures quarterly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✓ Store backups off-server (S3, NAS)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Health Checks: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✓ Implement comprehensive health checks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✓ Check both process status and HTTP endpoints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✓ Set appropriate timeouts (30-60 seconds)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✓ Retry failed health checks (3 attempts)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Rollback Plan: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✓ Test rollback procedures in staging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✓ Keep previous versions available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✓ Document rollback steps in runbook</a:t>
            </a:r>
          </a:p>
          <a:p>
            <a:pPr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t>  ✓ Automate rollback when possible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ECS Deployment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Task Definition Management: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Version control task definitions in Git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Use parameterized task definitions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Test in non-production first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Keep previous revisions (minimum 10)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Resource Management: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Right-size CPU and memory (monitor and adjust)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Use Fargate Spot for cost savings (non-prod)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Implement auto-scaling based on metrics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Set resource reservations and limits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Load Balancer Configuration: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Use Application Load Balancer (ALB) for HTTP/HTTPS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Configure health checks: /health endpoint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Health check interval: 30s, Timeout: 5s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Set up SSL/TLS termination at ALB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Deployment Configuration: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Enable deployment circuit breaker with auto-rollback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Set health check grace period: 60-120 seconds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Use appropriate deployment strategy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Configure CloudWatch alarms for automated alerts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Security &amp; Compliance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2743200" cy="54864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🔒 Secrets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2743200" cy="54864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👥 Access Control (RBAC)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Secrets Management: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Native secrets management in Harness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Integration with AWS Secrets Manager, HashiCorp Vault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Encrypted at rest and in transit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Automatic secret rotation support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Access Control (RBAC):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Role-based access control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Fine-grained permissions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Audit logs for all actions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SSO integration (SAML, OAuth)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Policy as Code (OPA):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Enforce deployment policies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Compliance checks before deployment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Custom policies (e.g., require approval for prod)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Policy violations prevent deployment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Compliance: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Complete audit trails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SOC 2, ISO 27001 compliant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GDPR compliance support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Automated compliance reports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Monitoring &amp; Continuous Verification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1828800" cy="45720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Prometheus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</a:defRPr>
            </a:pPr>
            <a:r>
              <a:t>• Metrics collection</a:t>
            </a:r>
            <a:br/>
            <a:r>
              <a:t>• Time-series DB</a:t>
            </a:r>
            <a:br/>
            <a:r>
              <a:t>• PromQL queries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645920"/>
            <a:ext cx="1828800" cy="45720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Datadog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1945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</a:defRPr>
            </a:pPr>
            <a:r>
              <a:t>• APM monitoring</a:t>
            </a:r>
            <a:br/>
            <a:r>
              <a:t>• Infrastructure</a:t>
            </a:r>
            <a:br/>
            <a:r>
              <a:t>• Custom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1828800" cy="457200"/>
          </a:xfrm>
          <a:prstGeom prst="roundRect">
            <a:avLst/>
          </a:prstGeom>
          <a:solidFill>
            <a:srgbClr val="00A86B"/>
          </a:solidFill>
          <a:ln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CloudWatch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</a:defRPr>
            </a:pPr>
            <a:r>
              <a:t>• AWS native</a:t>
            </a:r>
            <a:br/>
            <a:r>
              <a:t>• Logs &amp; metrics</a:t>
            </a:r>
            <a:br/>
            <a:r>
              <a:t>• Alarms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Continuous Verification Metrics: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Error Rates: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HTTP 5xx errors &lt; 1%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Application exceptions &lt; 0.5%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Failed requests &lt; 0.1%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Performance Metrics: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Response time (P95) &lt; baseline + 10%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Response time (P99) &lt; baseline + 20%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Throughput ≥ baseline - 5%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Resource Utilization: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CPU utilization &lt; 80%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Memory utilization &lt; 85%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Disk I/O within normal range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Auto-Rollback Triggers: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Error rate exceeds threshold for 5 minutes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Response time degradation &gt; 50%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Health check failures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Rollback Strategies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274320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Manual Rollback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2743200" cy="54864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Automatic Rollback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Manual Rollback: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Triggered by operator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Review deployment status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Execute rollback pipeline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Verify rollback success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VM Rollback Process: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1. Stop current application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2. Restore from backup (latest good version)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3. Start restored application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4. Verify health checks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ECS Rollback Process: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1. Update ECS service with previous task definition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2. ECS automatically starts old tasks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3. ECS stops new tasks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4. Verify service health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Automatic Rollback (AI-Powered):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Continuous verification monitors metrics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ML baseline comparison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Anomaly detection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Auto-rollback if degradation detected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Notification sent to team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Rollback Best Practices: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✓ Test rollback procedures regularly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✓ Keep rollback window ≤ 5 minutes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✓ Document rollback procedures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✓ Monitor post-rollback metrics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Implementation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Phase 1: Planning &amp; Setup (Week 1-2)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Requirements gathering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Harness account setup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Connector configuration (Git, AWS, Docker)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Delegate installation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Phase 2: Environment Setup (Week 2-3)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Create environments (Dev, QA, Staging, Prod)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Define infrastructure (VM, ECS clusters)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Configure secrets management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Set up RBAC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Phase 3: Pipeline Development (Week 3-5)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Create service definitions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Build deployment pipelines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Configure deployment strategies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Add verification steps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Phase 4: Testing &amp; Validation (Week 5-6)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Test in Dev/QA environments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Validate rollback procedures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Performance testing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Security validation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Phase 5: Production Deployment (Week 7-8)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Production readiness review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Production deployment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Monitoring and optimization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Team training &amp; documentation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Total Timeline: 6-8 weeks for complete implementation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VM Deployments: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SSH-based deployments to traditional servers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Backup → Stop → Deploy → Start → Verify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Suitable for legacy applications and traditional infrastructure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Simple rollback via backup restoration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ECS Deployments: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Container-based deployments on AWS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Multiple strategies: Rolling, Blue-Green, Canary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Zero-downtime deployments possible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Native AWS integration and auto-scaling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Deployment Strategies: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Rolling: Simple, minimal downtime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Blue-Green: Zero downtime, instant rollback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Canary: Gradual rollout, risk mitigation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Critical Success Factors: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Comprehensive testing in non-production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Automated health checks and verification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Tested rollback procedures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Continuous monitoring and alerting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✓ Team training and documentation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Benefits: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70% faster deployments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40-60% fewer production incidents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Complete visibility and audit trails</a:t>
            </a:r>
          </a:p>
          <a:p>
            <a:pPr>
              <a:spcBef>
                <a:spcPts val="1200"/>
              </a:spcBef>
              <a:defRPr sz="1300">
                <a:solidFill>
                  <a:srgbClr val="333333"/>
                </a:solidFill>
              </a:defRPr>
            </a:pPr>
            <a:r>
              <a:t>  • Automated compliance and governance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Immediate Actions (This Week):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1. ✓ Set up Harness account (Free trial available)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2. ✓ Identify pilot application/service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3. ✓ Form project team (DevOps, Developer, QA)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4. ✓ Review existing deployment processes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Short-term (Next 2 Weeks):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1. ✓ Install Harness delegate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2. ✓ Configure connectors (Git, Cloud, Artifact repos)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3. ✓ Create Dev environment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4. ✓ Build first deployment pipeline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5. ✓ Test deployment in Dev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Medium-term (Next 4-6 Weeks):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1. ✓ Expand to QA and Staging environments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2. ✓ Implement deployment strategies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3. ✓ Set up continuous verification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4. ✓ Configure monitoring and alerting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5. ✓ Test rollback procedures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Long-term (Next 2-3 Months):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1. ✓ Production deployment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2. ✓ Onboard additional applications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3. ✓ Team training and knowledge transfer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4. ✓ Continuous optimization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Resources Needed: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1-2 DevOps Engineers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0.5-1 Developer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0.25-0.5 QA Engineer</a:t>
            </a:r>
          </a:p>
          <a:p>
            <a:pPr>
              <a:spcBef>
                <a:spcPts val="1200"/>
              </a:spcBef>
              <a:defRPr sz="1200">
                <a:solidFill>
                  <a:srgbClr val="333333"/>
                </a:solidFill>
              </a:defRPr>
            </a:pPr>
            <a:r>
              <a:t>  • Access to infrastructure (VMs, AWS accounts)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Resources &amp;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Official Documentation: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Harness CD Docs: https://developer.harness.io/docs/continuous-delivery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VM Deployments: https://developer.harness.io/docs/continuous-delivery/deploy-srv-diff-platforms/ssh-how-tos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ECS Deployments: https://developer.harness.io/docs/continuous-delivery/deploy-srv-diff-platforms/aws-ecs-deployments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Learning Resources: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Harness University: https://university.harness.io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Video Tutorials: YouTube - Harness Channel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Community Forums: https://community.harness.io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GitHub Examples: https://github.com/harness-community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Internal Resources: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Pipeline Templates: [Link to your internal templates]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Deployment Runbooks: [Link to runbooks]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Architecture Diagrams: [Link to architecture docs]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Team Contact: [Your team Slack channel / Email]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Support: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Harness Support Portal: https://support.harness.io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Professional Services: Available for complex implementations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Training: Custom training sessions available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Additional Files: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HARNESS_CD_VM_ECS_WORKFLOW.md - Detailed technical guide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CD_FLOW_TASK_BREAKDOWN.md - Complete task breakdown</a:t>
            </a:r>
          </a:p>
          <a:p>
            <a:pPr>
              <a:spcBef>
                <a:spcPts val="1200"/>
              </a:spcBef>
              <a:defRPr sz="1100">
                <a:solidFill>
                  <a:srgbClr val="333333"/>
                </a:solidFill>
              </a:defRPr>
            </a:pPr>
            <a:r>
              <a:t>  • Configuration examples and YAML templates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66CC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A86B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389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</a:defRPr>
            </a:pPr>
            <a:r>
              <a:t>📧 Email: [your-email@company.com]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754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</a:defRPr>
            </a:pPr>
            <a:r>
              <a:t>💬 Slack: #harness-cd-support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120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</a:defRPr>
            </a:pPr>
            <a:r>
              <a:t>📚 Documentation: [Internal Wiki Link]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486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</a:defRPr>
            </a:pPr>
            <a:r>
              <a:t>🔗 Harness Platform: [Your Harness URL]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